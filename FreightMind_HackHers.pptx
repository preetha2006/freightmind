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image" Target="../media/image-4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80760" y="0"/>
            <a:ext cx="3063240" cy="5143500"/>
          </a:xfrm>
          <a:prstGeom prst="rect">
            <a:avLst/>
          </a:prstGeom>
          <a:solidFill>
            <a:srgbClr val="0F2144"/>
          </a:solidFill>
          <a:ln/>
        </p:spPr>
      </p:sp>
      <p:sp>
        <p:nvSpPr>
          <p:cNvPr id="3" name="Shape 1"/>
          <p:cNvSpPr/>
          <p:nvPr/>
        </p:nvSpPr>
        <p:spPr>
          <a:xfrm>
            <a:off x="6080760" y="0"/>
            <a:ext cx="45720" cy="5143500"/>
          </a:xfrm>
          <a:prstGeom prst="rect">
            <a:avLst/>
          </a:prstGeom>
          <a:solidFill>
            <a:srgbClr val="2563EB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>
            <a:alphaModFix amt="86000"/>
          </a:blip>
          <a:stretch>
            <a:fillRect/>
          </a:stretch>
        </p:blipFill>
        <p:spPr>
          <a:xfrm>
            <a:off x="6446520" y="1005840"/>
            <a:ext cx="2240280" cy="224028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6" name="Shape 3"/>
          <p:cNvSpPr/>
          <p:nvPr/>
        </p:nvSpPr>
        <p:spPr>
          <a:xfrm>
            <a:off x="256032" y="256032"/>
            <a:ext cx="3291840" cy="274320"/>
          </a:xfrm>
          <a:prstGeom prst="rect">
            <a:avLst/>
          </a:prstGeom>
          <a:solidFill>
            <a:srgbClr val="1D4ED8">
              <a:alpha val="25000"/>
            </a:srgbClr>
          </a:solidFill>
          <a:ln w="6350">
            <a:solidFill>
              <a:srgbClr val="3B82F6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256032" y="256032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spc="80" kern="0" dirty="0">
                <a:solidFill>
                  <a:srgbClr val="93C5F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LogisticsNow LoRRI AI Hackathon  ·  Round 2</a:t>
            </a:r>
            <a:endParaRPr lang="en-US" sz="850" dirty="0"/>
          </a:p>
        </p:txBody>
      </p:sp>
      <p:sp>
        <p:nvSpPr>
          <p:cNvPr id="8" name="Text 5"/>
          <p:cNvSpPr/>
          <p:nvPr/>
        </p:nvSpPr>
        <p:spPr>
          <a:xfrm>
            <a:off x="256032" y="694944"/>
            <a:ext cx="565099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FreightMind</a:t>
            </a:r>
            <a:endParaRPr lang="en-US" sz="6400" dirty="0"/>
          </a:p>
        </p:txBody>
      </p:sp>
      <p:sp>
        <p:nvSpPr>
          <p:cNvPr id="9" name="Text 6"/>
          <p:cNvSpPr/>
          <p:nvPr/>
        </p:nvSpPr>
        <p:spPr>
          <a:xfrm>
            <a:off x="256032" y="1755648"/>
            <a:ext cx="56509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i="1" dirty="0">
                <a:solidFill>
                  <a:srgbClr val="93C5F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Smarter Carriers. Faster Decisions.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256032" y="2249424"/>
            <a:ext cx="5440680" cy="18288"/>
          </a:xfrm>
          <a:prstGeom prst="rect">
            <a:avLst/>
          </a:prstGeom>
          <a:solidFill>
            <a:srgbClr val="3B82F6">
              <a:alpha val="50000"/>
            </a:srgbClr>
          </a:solidFill>
          <a:ln/>
        </p:spPr>
      </p:sp>
      <p:sp>
        <p:nvSpPr>
          <p:cNvPr id="11" name="Text 8"/>
          <p:cNvSpPr/>
          <p:nvPr/>
        </p:nvSpPr>
        <p:spPr>
          <a:xfrm>
            <a:off x="256032" y="2340864"/>
            <a:ext cx="5577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AI-Powered Carrier Selection Agent for Logistics Procurement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256032" y="283464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3B82F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TEAM  HACKHERS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256032" y="3163824"/>
            <a:ext cx="2487168" cy="594360"/>
          </a:xfrm>
          <a:prstGeom prst="rect">
            <a:avLst/>
          </a:prstGeom>
          <a:solidFill>
            <a:srgbClr val="1D4ED8">
              <a:alpha val="18000"/>
            </a:srgbClr>
          </a:solidFill>
          <a:ln w="8890">
            <a:solidFill>
              <a:srgbClr val="3B82F6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256032" y="3163824"/>
            <a:ext cx="45720" cy="59436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5" name="Text 12"/>
          <p:cNvSpPr/>
          <p:nvPr/>
        </p:nvSpPr>
        <p:spPr>
          <a:xfrm>
            <a:off x="384048" y="3163824"/>
            <a:ext cx="232257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Preetha M</a:t>
            </a:r>
            <a:endParaRPr lang="en-US" sz="1300" dirty="0"/>
          </a:p>
        </p:txBody>
      </p:sp>
      <p:sp>
        <p:nvSpPr>
          <p:cNvPr id="16" name="Shape 13"/>
          <p:cNvSpPr/>
          <p:nvPr/>
        </p:nvSpPr>
        <p:spPr>
          <a:xfrm>
            <a:off x="2871216" y="3163824"/>
            <a:ext cx="2487168" cy="594360"/>
          </a:xfrm>
          <a:prstGeom prst="rect">
            <a:avLst/>
          </a:prstGeom>
          <a:solidFill>
            <a:srgbClr val="1D4ED8">
              <a:alpha val="18000"/>
            </a:srgbClr>
          </a:solidFill>
          <a:ln w="8890">
            <a:solidFill>
              <a:srgbClr val="3B82F6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2871216" y="3163824"/>
            <a:ext cx="45720" cy="59436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8" name="Text 15"/>
          <p:cNvSpPr/>
          <p:nvPr/>
        </p:nvSpPr>
        <p:spPr>
          <a:xfrm>
            <a:off x="2999232" y="3163824"/>
            <a:ext cx="232257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Afshana R</a:t>
            </a:r>
            <a:endParaRPr lang="en-US" sz="1300" dirty="0"/>
          </a:p>
        </p:txBody>
      </p:sp>
      <p:sp>
        <p:nvSpPr>
          <p:cNvPr id="19" name="Shape 16"/>
          <p:cNvSpPr/>
          <p:nvPr/>
        </p:nvSpPr>
        <p:spPr>
          <a:xfrm>
            <a:off x="256032" y="3858768"/>
            <a:ext cx="2487168" cy="594360"/>
          </a:xfrm>
          <a:prstGeom prst="rect">
            <a:avLst/>
          </a:prstGeom>
          <a:solidFill>
            <a:srgbClr val="1D4ED8">
              <a:alpha val="18000"/>
            </a:srgbClr>
          </a:solidFill>
          <a:ln w="8890">
            <a:solidFill>
              <a:srgbClr val="3B82F6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256032" y="3858768"/>
            <a:ext cx="45720" cy="59436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21" name="Text 18"/>
          <p:cNvSpPr/>
          <p:nvPr/>
        </p:nvSpPr>
        <p:spPr>
          <a:xfrm>
            <a:off x="384048" y="3858768"/>
            <a:ext cx="232257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Monija V</a:t>
            </a:r>
            <a:endParaRPr lang="en-US" sz="1300" dirty="0"/>
          </a:p>
        </p:txBody>
      </p:sp>
      <p:sp>
        <p:nvSpPr>
          <p:cNvPr id="22" name="Shape 19"/>
          <p:cNvSpPr/>
          <p:nvPr/>
        </p:nvSpPr>
        <p:spPr>
          <a:xfrm>
            <a:off x="2871216" y="3858768"/>
            <a:ext cx="2487168" cy="594360"/>
          </a:xfrm>
          <a:prstGeom prst="rect">
            <a:avLst/>
          </a:prstGeom>
          <a:solidFill>
            <a:srgbClr val="1D4ED8">
              <a:alpha val="18000"/>
            </a:srgbClr>
          </a:solidFill>
          <a:ln w="8890">
            <a:solidFill>
              <a:srgbClr val="3B82F6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2871216" y="3858768"/>
            <a:ext cx="45720" cy="59436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24" name="Text 21"/>
          <p:cNvSpPr/>
          <p:nvPr/>
        </p:nvSpPr>
        <p:spPr>
          <a:xfrm>
            <a:off x="2999232" y="3858768"/>
            <a:ext cx="232257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Sivashobana K</a:t>
            </a:r>
            <a:endParaRPr lang="en-US" sz="1300" dirty="0"/>
          </a:p>
        </p:txBody>
      </p:sp>
      <p:sp>
        <p:nvSpPr>
          <p:cNvPr id="25" name="Text 22"/>
          <p:cNvSpPr/>
          <p:nvPr/>
        </p:nvSpPr>
        <p:spPr>
          <a:xfrm>
            <a:off x="6172200" y="3401568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3C5F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Problem #1</a:t>
            </a:r>
            <a:endParaRPr lang="en-US" sz="1000" dirty="0"/>
          </a:p>
        </p:txBody>
      </p:sp>
      <p:sp>
        <p:nvSpPr>
          <p:cNvPr id="26" name="Text 23"/>
          <p:cNvSpPr/>
          <p:nvPr/>
        </p:nvSpPr>
        <p:spPr>
          <a:xfrm>
            <a:off x="6172200" y="3694176"/>
            <a:ext cx="2834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Carrier Selection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Agent in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Procurement</a:t>
            </a:r>
            <a:endParaRPr lang="en-US" sz="1100" dirty="0"/>
          </a:p>
        </p:txBody>
      </p:sp>
      <p:sp>
        <p:nvSpPr>
          <p:cNvPr id="27" name="Shape 24"/>
          <p:cNvSpPr/>
          <p:nvPr/>
        </p:nvSpPr>
        <p:spPr>
          <a:xfrm>
            <a:off x="0" y="4873752"/>
            <a:ext cx="9144000" cy="269748"/>
          </a:xfrm>
          <a:prstGeom prst="rect">
            <a:avLst/>
          </a:prstGeom>
          <a:solidFill>
            <a:srgbClr val="0F2144"/>
          </a:solidFill>
          <a:ln/>
        </p:spPr>
      </p:sp>
      <p:sp>
        <p:nvSpPr>
          <p:cNvPr id="28" name="Text 25"/>
          <p:cNvSpPr/>
          <p:nvPr/>
        </p:nvSpPr>
        <p:spPr>
          <a:xfrm>
            <a:off x="0" y="4873752"/>
            <a:ext cx="9144000" cy="2697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3C5F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github.com/preetha2006/freightmind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5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14400"/>
            <a:ext cx="9144000" cy="41148"/>
          </a:xfrm>
          <a:prstGeom prst="rect">
            <a:avLst/>
          </a:prstGeom>
          <a:solidFill>
            <a:srgbClr val="1D4ED8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210312"/>
            <a:ext cx="475488" cy="47548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68680" y="137160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Problem Statement</a:t>
            </a:r>
            <a:endParaRPr lang="en-US" sz="2700" dirty="0"/>
          </a:p>
        </p:txBody>
      </p:sp>
      <p:sp>
        <p:nvSpPr>
          <p:cNvPr id="6" name="Shape 3"/>
          <p:cNvSpPr/>
          <p:nvPr/>
        </p:nvSpPr>
        <p:spPr>
          <a:xfrm>
            <a:off x="0" y="4873752"/>
            <a:ext cx="9144000" cy="269748"/>
          </a:xfrm>
          <a:prstGeom prst="rect">
            <a:avLst/>
          </a:prstGeom>
          <a:solidFill>
            <a:srgbClr val="0F2144"/>
          </a:solidFill>
          <a:ln/>
        </p:spPr>
      </p:sp>
      <p:sp>
        <p:nvSpPr>
          <p:cNvPr id="7" name="Text 4"/>
          <p:cNvSpPr/>
          <p:nvPr/>
        </p:nvSpPr>
        <p:spPr>
          <a:xfrm>
            <a:off x="0" y="4873752"/>
            <a:ext cx="9144000" cy="2697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FreightMind  ·  Team HackHers  ·  LogisticsNow LoRRI AI Hackathon Round 2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274320" y="1042416"/>
            <a:ext cx="4251960" cy="1682496"/>
          </a:xfrm>
          <a:prstGeom prst="rect">
            <a:avLst/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274320" y="1042416"/>
            <a:ext cx="4251960" cy="4572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10" name="Shape 7"/>
          <p:cNvSpPr/>
          <p:nvPr/>
        </p:nvSpPr>
        <p:spPr>
          <a:xfrm>
            <a:off x="420624" y="1179576"/>
            <a:ext cx="457200" cy="457200"/>
          </a:xfrm>
          <a:prstGeom prst="ellipse">
            <a:avLst/>
          </a:prstGeom>
          <a:solidFill>
            <a:srgbClr val="DC2626">
              <a:alpha val="14000"/>
            </a:srgbClr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216152"/>
            <a:ext cx="384048" cy="38404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024128" y="1161288"/>
            <a:ext cx="33467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214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Manual &amp; Time-Consuming Process</a:t>
            </a:r>
            <a:endParaRPr lang="en-US" sz="1200" dirty="0"/>
          </a:p>
        </p:txBody>
      </p:sp>
      <p:sp>
        <p:nvSpPr>
          <p:cNvPr id="13" name="Text 9"/>
          <p:cNvSpPr/>
          <p:nvPr/>
        </p:nvSpPr>
        <p:spPr>
          <a:xfrm>
            <a:off x="402336" y="1636776"/>
            <a:ext cx="399592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Procurement teams spend hours comparing carrier bids across spreadsheets. No standardised scoring exists — decisions are inconsistent, slow, and error-prone across every tender cycle.</a:t>
            </a:r>
            <a:endParaRPr lang="en-US" sz="1050" dirty="0"/>
          </a:p>
        </p:txBody>
      </p:sp>
      <p:sp>
        <p:nvSpPr>
          <p:cNvPr id="14" name="Shape 10"/>
          <p:cNvSpPr/>
          <p:nvPr/>
        </p:nvSpPr>
        <p:spPr>
          <a:xfrm>
            <a:off x="4700016" y="1042416"/>
            <a:ext cx="4251960" cy="1682496"/>
          </a:xfrm>
          <a:prstGeom prst="rect">
            <a:avLst/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4700016" y="1042416"/>
            <a:ext cx="4251960" cy="45720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16" name="Shape 12"/>
          <p:cNvSpPr/>
          <p:nvPr/>
        </p:nvSpPr>
        <p:spPr>
          <a:xfrm>
            <a:off x="4846320" y="1179576"/>
            <a:ext cx="457200" cy="457200"/>
          </a:xfrm>
          <a:prstGeom prst="ellipse">
            <a:avLst/>
          </a:prstGeom>
          <a:solidFill>
            <a:srgbClr val="B45309">
              <a:alpha val="14000"/>
            </a:srgbClr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82896" y="1216152"/>
            <a:ext cx="384048" cy="384048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5449824" y="1161288"/>
            <a:ext cx="33467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214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Overpriced Bids Go Undetected</a:t>
            </a:r>
            <a:endParaRPr lang="en-US" sz="1200" dirty="0"/>
          </a:p>
        </p:txBody>
      </p:sp>
      <p:sp>
        <p:nvSpPr>
          <p:cNvPr id="19" name="Text 14"/>
          <p:cNvSpPr/>
          <p:nvPr/>
        </p:nvSpPr>
        <p:spPr>
          <a:xfrm>
            <a:off x="4828032" y="1636776"/>
            <a:ext cx="399592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Without market rate benchmarks, carriers routinely overbid by 15–30%. No automated tool flags overpricing or calculates potential INR savings available through negotiation.</a:t>
            </a:r>
            <a:endParaRPr lang="en-US" sz="1050" dirty="0"/>
          </a:p>
        </p:txBody>
      </p:sp>
      <p:sp>
        <p:nvSpPr>
          <p:cNvPr id="20" name="Shape 15"/>
          <p:cNvSpPr/>
          <p:nvPr/>
        </p:nvSpPr>
        <p:spPr>
          <a:xfrm>
            <a:off x="274320" y="2871216"/>
            <a:ext cx="4251960" cy="1682496"/>
          </a:xfrm>
          <a:prstGeom prst="rect">
            <a:avLst/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274320" y="2871216"/>
            <a:ext cx="4251960" cy="4572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22" name="Shape 17"/>
          <p:cNvSpPr/>
          <p:nvPr/>
        </p:nvSpPr>
        <p:spPr>
          <a:xfrm>
            <a:off x="420624" y="3008376"/>
            <a:ext cx="457200" cy="457200"/>
          </a:xfrm>
          <a:prstGeom prst="ellipse">
            <a:avLst/>
          </a:prstGeom>
          <a:solidFill>
            <a:srgbClr val="7C3AED">
              <a:alpha val="14000"/>
            </a:srgbClr>
          </a:solidFill>
          <a:ln/>
        </p:spPr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3044952"/>
            <a:ext cx="384048" cy="384048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1024128" y="2990088"/>
            <a:ext cx="33467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214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No Risk-Based Carrier Selection</a:t>
            </a:r>
            <a:endParaRPr lang="en-US" sz="1200" dirty="0"/>
          </a:p>
        </p:txBody>
      </p:sp>
      <p:sp>
        <p:nvSpPr>
          <p:cNvPr id="25" name="Text 19"/>
          <p:cNvSpPr/>
          <p:nvPr/>
        </p:nvSpPr>
        <p:spPr>
          <a:xfrm>
            <a:off x="402336" y="3465576"/>
            <a:ext cx="399592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On-time delivery rates, damage history, and lane performance data are completely ignored. High-risk carriers win contracts simply because they submitted the lowest price.</a:t>
            </a:r>
            <a:endParaRPr lang="en-US" sz="1050" dirty="0"/>
          </a:p>
        </p:txBody>
      </p:sp>
      <p:sp>
        <p:nvSpPr>
          <p:cNvPr id="26" name="Shape 20"/>
          <p:cNvSpPr/>
          <p:nvPr/>
        </p:nvSpPr>
        <p:spPr>
          <a:xfrm>
            <a:off x="4700016" y="2871216"/>
            <a:ext cx="4251960" cy="1682496"/>
          </a:xfrm>
          <a:prstGeom prst="rect">
            <a:avLst/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27" name="Shape 21"/>
          <p:cNvSpPr/>
          <p:nvPr/>
        </p:nvSpPr>
        <p:spPr>
          <a:xfrm>
            <a:off x="4700016" y="2871216"/>
            <a:ext cx="4251960" cy="4572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28" name="Shape 22"/>
          <p:cNvSpPr/>
          <p:nvPr/>
        </p:nvSpPr>
        <p:spPr>
          <a:xfrm>
            <a:off x="4846320" y="3008376"/>
            <a:ext cx="457200" cy="457200"/>
          </a:xfrm>
          <a:prstGeom prst="ellipse">
            <a:avLst/>
          </a:prstGeom>
          <a:solidFill>
            <a:srgbClr val="0891B2">
              <a:alpha val="14000"/>
            </a:srgbClr>
          </a:solidFill>
          <a:ln/>
        </p:spPr>
      </p:sp>
      <p:pic>
        <p:nvPicPr>
          <p:cNvPr id="2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82896" y="3044952"/>
            <a:ext cx="384048" cy="384048"/>
          </a:xfrm>
          <a:prstGeom prst="rect">
            <a:avLst/>
          </a:prstGeom>
        </p:spPr>
      </p:pic>
      <p:sp>
        <p:nvSpPr>
          <p:cNvPr id="30" name="Text 23"/>
          <p:cNvSpPr/>
          <p:nvPr/>
        </p:nvSpPr>
        <p:spPr>
          <a:xfrm>
            <a:off x="5449824" y="2990088"/>
            <a:ext cx="33467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214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Historical Data Sits Unused</a:t>
            </a:r>
            <a:endParaRPr lang="en-US" sz="1200" dirty="0"/>
          </a:p>
        </p:txBody>
      </p:sp>
      <p:sp>
        <p:nvSpPr>
          <p:cNvPr id="31" name="Text 24"/>
          <p:cNvSpPr/>
          <p:nvPr/>
        </p:nvSpPr>
        <p:spPr>
          <a:xfrm>
            <a:off x="4828032" y="3465576"/>
            <a:ext cx="399592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Years of shipment records remain locked in ERP systems with no analytical layer on top. There is zero feedback loop from past shipment outcomes to future carrier decisions.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14400"/>
            <a:ext cx="9144000" cy="41148"/>
          </a:xfrm>
          <a:prstGeom prst="rect">
            <a:avLst/>
          </a:prstGeom>
          <a:solidFill>
            <a:srgbClr val="1D4ED8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210312"/>
            <a:ext cx="475488" cy="47548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68680" y="137160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Existing Solution Gaps &amp; Business Impact</a:t>
            </a:r>
            <a:endParaRPr lang="en-US" sz="2700" dirty="0"/>
          </a:p>
        </p:txBody>
      </p:sp>
      <p:sp>
        <p:nvSpPr>
          <p:cNvPr id="6" name="Shape 3"/>
          <p:cNvSpPr/>
          <p:nvPr/>
        </p:nvSpPr>
        <p:spPr>
          <a:xfrm>
            <a:off x="0" y="4873752"/>
            <a:ext cx="9144000" cy="269748"/>
          </a:xfrm>
          <a:prstGeom prst="rect">
            <a:avLst/>
          </a:prstGeom>
          <a:solidFill>
            <a:srgbClr val="0F2144"/>
          </a:solidFill>
          <a:ln/>
        </p:spPr>
      </p:sp>
      <p:sp>
        <p:nvSpPr>
          <p:cNvPr id="7" name="Text 4"/>
          <p:cNvSpPr/>
          <p:nvPr/>
        </p:nvSpPr>
        <p:spPr>
          <a:xfrm>
            <a:off x="0" y="4873752"/>
            <a:ext cx="9144000" cy="2697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FreightMind  ·  Team HackHers  ·  LogisticsNow LoRRI AI Hackathon Round 2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256032" y="1024128"/>
            <a:ext cx="4069080" cy="329184"/>
          </a:xfrm>
          <a:prstGeom prst="rect">
            <a:avLst/>
          </a:prstGeom>
          <a:solidFill>
            <a:srgbClr val="1D4ED8"/>
          </a:solidFill>
          <a:ln/>
        </p:spPr>
      </p:sp>
      <p:sp>
        <p:nvSpPr>
          <p:cNvPr id="9" name="Text 6"/>
          <p:cNvSpPr/>
          <p:nvPr/>
        </p:nvSpPr>
        <p:spPr>
          <a:xfrm>
            <a:off x="256032" y="1024128"/>
            <a:ext cx="4069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CURRENT GAPS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256032" y="1426464"/>
            <a:ext cx="4069080" cy="438912"/>
          </a:xfrm>
          <a:prstGeom prst="rect">
            <a:avLst/>
          </a:prstGeom>
          <a:solidFill>
            <a:srgbClr val="FFFFFF">
              <a:alpha val="7000"/>
            </a:srgbClr>
          </a:solidFill>
          <a:ln w="6350">
            <a:solidFill>
              <a:srgbClr val="3B82F6">
                <a:alpha val="35000"/>
              </a:srgbClr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365760" y="1545336"/>
            <a:ext cx="201168" cy="201168"/>
          </a:xfrm>
          <a:prstGeom prst="ellipse">
            <a:avLst/>
          </a:prstGeom>
          <a:solidFill>
            <a:srgbClr val="BE123C"/>
          </a:solidFill>
          <a:ln/>
        </p:spPr>
      </p:sp>
      <p:sp>
        <p:nvSpPr>
          <p:cNvPr id="12" name="Text 9"/>
          <p:cNvSpPr/>
          <p:nvPr/>
        </p:nvSpPr>
        <p:spPr>
          <a:xfrm>
            <a:off x="676656" y="1472184"/>
            <a:ext cx="35478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Carrier selection entirely manual — spreadsheets only, no AI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256032" y="1929384"/>
            <a:ext cx="4069080" cy="438912"/>
          </a:xfrm>
          <a:prstGeom prst="rect">
            <a:avLst/>
          </a:prstGeom>
          <a:solidFill>
            <a:srgbClr val="FFFFFF">
              <a:alpha val="7000"/>
            </a:srgbClr>
          </a:solidFill>
          <a:ln w="6350">
            <a:solidFill>
              <a:srgbClr val="3B82F6">
                <a:alpha val="35000"/>
              </a:srgbClr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365760" y="2048256"/>
            <a:ext cx="201168" cy="201168"/>
          </a:xfrm>
          <a:prstGeom prst="ellipse">
            <a:avLst/>
          </a:prstGeom>
          <a:solidFill>
            <a:srgbClr val="BE123C"/>
          </a:solidFill>
          <a:ln/>
        </p:spPr>
      </p:sp>
      <p:sp>
        <p:nvSpPr>
          <p:cNvPr id="15" name="Text 12"/>
          <p:cNvSpPr/>
          <p:nvPr/>
        </p:nvSpPr>
        <p:spPr>
          <a:xfrm>
            <a:off x="676656" y="1975104"/>
            <a:ext cx="35478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Historical on-time &amp; damage data never used in scoring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256032" y="2432304"/>
            <a:ext cx="4069080" cy="438912"/>
          </a:xfrm>
          <a:prstGeom prst="rect">
            <a:avLst/>
          </a:prstGeom>
          <a:solidFill>
            <a:srgbClr val="FFFFFF">
              <a:alpha val="7000"/>
            </a:srgbClr>
          </a:solidFill>
          <a:ln w="6350">
            <a:solidFill>
              <a:srgbClr val="3B82F6">
                <a:alpha val="35000"/>
              </a:srgbClr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365760" y="2551176"/>
            <a:ext cx="201168" cy="201168"/>
          </a:xfrm>
          <a:prstGeom prst="ellipse">
            <a:avLst/>
          </a:prstGeom>
          <a:solidFill>
            <a:srgbClr val="BE123C"/>
          </a:solidFill>
          <a:ln/>
        </p:spPr>
      </p:sp>
      <p:sp>
        <p:nvSpPr>
          <p:cNvPr id="18" name="Text 15"/>
          <p:cNvSpPr/>
          <p:nvPr/>
        </p:nvSpPr>
        <p:spPr>
          <a:xfrm>
            <a:off x="676656" y="2478024"/>
            <a:ext cx="35478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No market rate benchmark — overbidding goes undetected</a:t>
            </a:r>
            <a:endParaRPr lang="en-US" sz="1000" dirty="0"/>
          </a:p>
        </p:txBody>
      </p:sp>
      <p:sp>
        <p:nvSpPr>
          <p:cNvPr id="19" name="Shape 16"/>
          <p:cNvSpPr/>
          <p:nvPr/>
        </p:nvSpPr>
        <p:spPr>
          <a:xfrm>
            <a:off x="256032" y="2935224"/>
            <a:ext cx="4069080" cy="438912"/>
          </a:xfrm>
          <a:prstGeom prst="rect">
            <a:avLst/>
          </a:prstGeom>
          <a:solidFill>
            <a:srgbClr val="FFFFFF">
              <a:alpha val="7000"/>
            </a:srgbClr>
          </a:solidFill>
          <a:ln w="6350">
            <a:solidFill>
              <a:srgbClr val="3B82F6">
                <a:alpha val="35000"/>
              </a:srgbClr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365760" y="3054096"/>
            <a:ext cx="201168" cy="201168"/>
          </a:xfrm>
          <a:prstGeom prst="ellipse">
            <a:avLst/>
          </a:prstGeom>
          <a:solidFill>
            <a:srgbClr val="BE123C"/>
          </a:solidFill>
          <a:ln/>
        </p:spPr>
      </p:sp>
      <p:sp>
        <p:nvSpPr>
          <p:cNvPr id="21" name="Text 18"/>
          <p:cNvSpPr/>
          <p:nvPr/>
        </p:nvSpPr>
        <p:spPr>
          <a:xfrm>
            <a:off x="676656" y="2980944"/>
            <a:ext cx="35478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Award decisions driven by lowest price only, ignoring risk</a:t>
            </a:r>
            <a:endParaRPr lang="en-US" sz="1000" dirty="0"/>
          </a:p>
        </p:txBody>
      </p:sp>
      <p:sp>
        <p:nvSpPr>
          <p:cNvPr id="22" name="Shape 19"/>
          <p:cNvSpPr/>
          <p:nvPr/>
        </p:nvSpPr>
        <p:spPr>
          <a:xfrm>
            <a:off x="256032" y="3438144"/>
            <a:ext cx="4069080" cy="438912"/>
          </a:xfrm>
          <a:prstGeom prst="rect">
            <a:avLst/>
          </a:prstGeom>
          <a:solidFill>
            <a:srgbClr val="FFFFFF">
              <a:alpha val="7000"/>
            </a:srgbClr>
          </a:solidFill>
          <a:ln w="6350">
            <a:solidFill>
              <a:srgbClr val="3B82F6">
                <a:alpha val="35000"/>
              </a:srgbClr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365760" y="3557016"/>
            <a:ext cx="201168" cy="201168"/>
          </a:xfrm>
          <a:prstGeom prst="ellipse">
            <a:avLst/>
          </a:prstGeom>
          <a:solidFill>
            <a:srgbClr val="BE123C"/>
          </a:solidFill>
          <a:ln/>
        </p:spPr>
      </p:sp>
      <p:sp>
        <p:nvSpPr>
          <p:cNvPr id="24" name="Text 21"/>
          <p:cNvSpPr/>
          <p:nvPr/>
        </p:nvSpPr>
        <p:spPr>
          <a:xfrm>
            <a:off x="676656" y="3483864"/>
            <a:ext cx="35478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Zero feedback loop from past shipments to future awards</a:t>
            </a:r>
            <a:endParaRPr lang="en-US" sz="1000" dirty="0"/>
          </a:p>
        </p:txBody>
      </p:sp>
      <p:sp>
        <p:nvSpPr>
          <p:cNvPr id="25" name="Shape 22"/>
          <p:cNvSpPr/>
          <p:nvPr/>
        </p:nvSpPr>
        <p:spPr>
          <a:xfrm>
            <a:off x="256032" y="3941064"/>
            <a:ext cx="4069080" cy="438912"/>
          </a:xfrm>
          <a:prstGeom prst="rect">
            <a:avLst/>
          </a:prstGeom>
          <a:solidFill>
            <a:srgbClr val="FFFFFF">
              <a:alpha val="7000"/>
            </a:srgbClr>
          </a:solidFill>
          <a:ln w="6350">
            <a:solidFill>
              <a:srgbClr val="3B82F6">
                <a:alpha val="35000"/>
              </a:srgbClr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365760" y="4059936"/>
            <a:ext cx="201168" cy="201168"/>
          </a:xfrm>
          <a:prstGeom prst="ellipse">
            <a:avLst/>
          </a:prstGeom>
          <a:solidFill>
            <a:srgbClr val="BE123C"/>
          </a:solidFill>
          <a:ln/>
        </p:spPr>
      </p:sp>
      <p:sp>
        <p:nvSpPr>
          <p:cNvPr id="27" name="Text 24"/>
          <p:cNvSpPr/>
          <p:nvPr/>
        </p:nvSpPr>
        <p:spPr>
          <a:xfrm>
            <a:off x="676656" y="3986784"/>
            <a:ext cx="35478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Lane-level intelligence absent from procurement workflow</a:t>
            </a:r>
            <a:endParaRPr lang="en-US" sz="1000" dirty="0"/>
          </a:p>
        </p:txBody>
      </p:sp>
      <p:sp>
        <p:nvSpPr>
          <p:cNvPr id="28" name="Shape 25"/>
          <p:cNvSpPr/>
          <p:nvPr/>
        </p:nvSpPr>
        <p:spPr>
          <a:xfrm>
            <a:off x="4818888" y="1024128"/>
            <a:ext cx="4069080" cy="329184"/>
          </a:xfrm>
          <a:prstGeom prst="rect">
            <a:avLst/>
          </a:prstGeom>
          <a:solidFill>
            <a:srgbClr val="1D4ED8"/>
          </a:solidFill>
          <a:ln/>
        </p:spPr>
      </p:sp>
      <p:sp>
        <p:nvSpPr>
          <p:cNvPr id="29" name="Text 26"/>
          <p:cNvSpPr/>
          <p:nvPr/>
        </p:nvSpPr>
        <p:spPr>
          <a:xfrm>
            <a:off x="4818888" y="1024128"/>
            <a:ext cx="4069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BUSINESS IMPACT</a:t>
            </a:r>
            <a:endParaRPr lang="en-US" sz="1000" dirty="0"/>
          </a:p>
        </p:txBody>
      </p:sp>
      <p:sp>
        <p:nvSpPr>
          <p:cNvPr id="30" name="Shape 27"/>
          <p:cNvSpPr/>
          <p:nvPr/>
        </p:nvSpPr>
        <p:spPr>
          <a:xfrm>
            <a:off x="4818888" y="1426464"/>
            <a:ext cx="4069080" cy="749808"/>
          </a:xfrm>
          <a:prstGeom prst="rect">
            <a:avLst/>
          </a:prstGeom>
          <a:solidFill>
            <a:srgbClr val="FFFFFF">
              <a:alpha val="7000"/>
            </a:srgbClr>
          </a:solidFill>
          <a:ln w="10160">
            <a:solidFill>
              <a:srgbClr val="B45309">
                <a:alpha val="55000"/>
              </a:srgbClr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4818888" y="1426464"/>
            <a:ext cx="54864" cy="749808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32" name="Text 29"/>
          <p:cNvSpPr/>
          <p:nvPr/>
        </p:nvSpPr>
        <p:spPr>
          <a:xfrm>
            <a:off x="4946904" y="1481328"/>
            <a:ext cx="1463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B4530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15–30%</a:t>
            </a:r>
            <a:endParaRPr lang="en-US" sz="2600" dirty="0"/>
          </a:p>
        </p:txBody>
      </p:sp>
      <p:sp>
        <p:nvSpPr>
          <p:cNvPr id="33" name="Text 30"/>
          <p:cNvSpPr/>
          <p:nvPr/>
        </p:nvSpPr>
        <p:spPr>
          <a:xfrm>
            <a:off x="4946904" y="1865376"/>
            <a:ext cx="38221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2E8F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Carrier overbidding rate</a:t>
            </a:r>
            <a:endParaRPr lang="en-US" sz="1000" dirty="0"/>
          </a:p>
        </p:txBody>
      </p:sp>
      <p:sp>
        <p:nvSpPr>
          <p:cNvPr id="34" name="Text 31"/>
          <p:cNvSpPr/>
          <p:nvPr/>
        </p:nvSpPr>
        <p:spPr>
          <a:xfrm>
            <a:off x="4946904" y="2011680"/>
            <a:ext cx="382219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goes undetected without benchmarking</a:t>
            </a:r>
            <a:endParaRPr lang="en-US" sz="900" dirty="0"/>
          </a:p>
        </p:txBody>
      </p:sp>
      <p:sp>
        <p:nvSpPr>
          <p:cNvPr id="35" name="Shape 32"/>
          <p:cNvSpPr/>
          <p:nvPr/>
        </p:nvSpPr>
        <p:spPr>
          <a:xfrm>
            <a:off x="4818888" y="2249424"/>
            <a:ext cx="4069080" cy="749808"/>
          </a:xfrm>
          <a:prstGeom prst="rect">
            <a:avLst/>
          </a:prstGeom>
          <a:solidFill>
            <a:srgbClr val="FFFFFF">
              <a:alpha val="7000"/>
            </a:srgbClr>
          </a:solidFill>
          <a:ln w="10160">
            <a:solidFill>
              <a:srgbClr val="BE123C">
                <a:alpha val="55000"/>
              </a:srgbClr>
            </a:solidFill>
            <a:prstDash val="solid"/>
          </a:ln>
        </p:spPr>
      </p:sp>
      <p:sp>
        <p:nvSpPr>
          <p:cNvPr id="36" name="Shape 33"/>
          <p:cNvSpPr/>
          <p:nvPr/>
        </p:nvSpPr>
        <p:spPr>
          <a:xfrm>
            <a:off x="4818888" y="2249424"/>
            <a:ext cx="54864" cy="749808"/>
          </a:xfrm>
          <a:prstGeom prst="rect">
            <a:avLst/>
          </a:prstGeom>
          <a:solidFill>
            <a:srgbClr val="BE123C"/>
          </a:solidFill>
          <a:ln/>
        </p:spPr>
      </p:sp>
      <p:sp>
        <p:nvSpPr>
          <p:cNvPr id="37" name="Text 34"/>
          <p:cNvSpPr/>
          <p:nvPr/>
        </p:nvSpPr>
        <p:spPr>
          <a:xfrm>
            <a:off x="4946904" y="2304288"/>
            <a:ext cx="1463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BE123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4+ hrs</a:t>
            </a:r>
            <a:endParaRPr lang="en-US" sz="2600" dirty="0"/>
          </a:p>
        </p:txBody>
      </p:sp>
      <p:sp>
        <p:nvSpPr>
          <p:cNvPr id="38" name="Text 35"/>
          <p:cNvSpPr/>
          <p:nvPr/>
        </p:nvSpPr>
        <p:spPr>
          <a:xfrm>
            <a:off x="4946904" y="2688336"/>
            <a:ext cx="38221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2E8F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Lost per tender evaluation</a:t>
            </a:r>
            <a:endParaRPr lang="en-US" sz="1000" dirty="0"/>
          </a:p>
        </p:txBody>
      </p:sp>
      <p:sp>
        <p:nvSpPr>
          <p:cNvPr id="39" name="Text 36"/>
          <p:cNvSpPr/>
          <p:nvPr/>
        </p:nvSpPr>
        <p:spPr>
          <a:xfrm>
            <a:off x="4946904" y="2834640"/>
            <a:ext cx="382219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wasted on manual bid comparison</a:t>
            </a:r>
            <a:endParaRPr lang="en-US" sz="900" dirty="0"/>
          </a:p>
        </p:txBody>
      </p:sp>
      <p:sp>
        <p:nvSpPr>
          <p:cNvPr id="40" name="Shape 37"/>
          <p:cNvSpPr/>
          <p:nvPr/>
        </p:nvSpPr>
        <p:spPr>
          <a:xfrm>
            <a:off x="4818888" y="3072384"/>
            <a:ext cx="4069080" cy="749808"/>
          </a:xfrm>
          <a:prstGeom prst="rect">
            <a:avLst/>
          </a:prstGeom>
          <a:solidFill>
            <a:srgbClr val="FFFFFF">
              <a:alpha val="7000"/>
            </a:srgbClr>
          </a:solidFill>
          <a:ln w="10160">
            <a:solidFill>
              <a:srgbClr val="7C3AED">
                <a:alpha val="55000"/>
              </a:srgbClr>
            </a:solidFill>
            <a:prstDash val="solid"/>
          </a:ln>
        </p:spPr>
      </p:sp>
      <p:sp>
        <p:nvSpPr>
          <p:cNvPr id="41" name="Shape 38"/>
          <p:cNvSpPr/>
          <p:nvPr/>
        </p:nvSpPr>
        <p:spPr>
          <a:xfrm>
            <a:off x="4818888" y="3072384"/>
            <a:ext cx="54864" cy="749808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42" name="Text 39"/>
          <p:cNvSpPr/>
          <p:nvPr/>
        </p:nvSpPr>
        <p:spPr>
          <a:xfrm>
            <a:off x="4946904" y="3127248"/>
            <a:ext cx="1463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7C3AE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23%</a:t>
            </a:r>
            <a:endParaRPr lang="en-US" sz="2600" dirty="0"/>
          </a:p>
        </p:txBody>
      </p:sp>
      <p:sp>
        <p:nvSpPr>
          <p:cNvPr id="43" name="Text 40"/>
          <p:cNvSpPr/>
          <p:nvPr/>
        </p:nvSpPr>
        <p:spPr>
          <a:xfrm>
            <a:off x="4946904" y="3511296"/>
            <a:ext cx="38221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2E8F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Shipments delayed annually</a:t>
            </a:r>
            <a:endParaRPr lang="en-US" sz="1000" dirty="0"/>
          </a:p>
        </p:txBody>
      </p:sp>
      <p:sp>
        <p:nvSpPr>
          <p:cNvPr id="44" name="Text 41"/>
          <p:cNvSpPr/>
          <p:nvPr/>
        </p:nvSpPr>
        <p:spPr>
          <a:xfrm>
            <a:off x="4946904" y="3657600"/>
            <a:ext cx="382219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linked to poor carrier selection</a:t>
            </a:r>
            <a:endParaRPr lang="en-US" sz="900" dirty="0"/>
          </a:p>
        </p:txBody>
      </p:sp>
      <p:sp>
        <p:nvSpPr>
          <p:cNvPr id="45" name="Shape 42"/>
          <p:cNvSpPr/>
          <p:nvPr/>
        </p:nvSpPr>
        <p:spPr>
          <a:xfrm>
            <a:off x="4818888" y="3895344"/>
            <a:ext cx="4069080" cy="749808"/>
          </a:xfrm>
          <a:prstGeom prst="rect">
            <a:avLst/>
          </a:prstGeom>
          <a:solidFill>
            <a:srgbClr val="FFFFFF">
              <a:alpha val="7000"/>
            </a:srgbClr>
          </a:solidFill>
          <a:ln w="10160">
            <a:solidFill>
              <a:srgbClr val="059669">
                <a:alpha val="55000"/>
              </a:srgbClr>
            </a:solidFill>
            <a:prstDash val="solid"/>
          </a:ln>
        </p:spPr>
      </p:sp>
      <p:sp>
        <p:nvSpPr>
          <p:cNvPr id="46" name="Shape 43"/>
          <p:cNvSpPr/>
          <p:nvPr/>
        </p:nvSpPr>
        <p:spPr>
          <a:xfrm>
            <a:off x="4818888" y="3895344"/>
            <a:ext cx="54864" cy="749808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47" name="Text 44"/>
          <p:cNvSpPr/>
          <p:nvPr/>
        </p:nvSpPr>
        <p:spPr>
          <a:xfrm>
            <a:off x="4946904" y="3950208"/>
            <a:ext cx="1463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5966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₹2.4L+</a:t>
            </a:r>
            <a:endParaRPr lang="en-US" sz="2600" dirty="0"/>
          </a:p>
        </p:txBody>
      </p:sp>
      <p:sp>
        <p:nvSpPr>
          <p:cNvPr id="48" name="Text 45"/>
          <p:cNvSpPr/>
          <p:nvPr/>
        </p:nvSpPr>
        <p:spPr>
          <a:xfrm>
            <a:off x="4946904" y="4334256"/>
            <a:ext cx="38221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2E8F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Avoidable spend per 100 orders</a:t>
            </a:r>
            <a:endParaRPr lang="en-US" sz="1000" dirty="0"/>
          </a:p>
        </p:txBody>
      </p:sp>
      <p:sp>
        <p:nvSpPr>
          <p:cNvPr id="49" name="Text 46"/>
          <p:cNvSpPr/>
          <p:nvPr/>
        </p:nvSpPr>
        <p:spPr>
          <a:xfrm>
            <a:off x="4946904" y="4480560"/>
            <a:ext cx="382219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recoverable with AI-based negotiation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5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14400"/>
            <a:ext cx="9144000" cy="41148"/>
          </a:xfrm>
          <a:prstGeom prst="rect">
            <a:avLst/>
          </a:prstGeom>
          <a:solidFill>
            <a:srgbClr val="1D4ED8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210312"/>
            <a:ext cx="475488" cy="47548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68680" y="137160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Our Proposed Solution — FreightMind</a:t>
            </a:r>
            <a:endParaRPr lang="en-US" sz="2700" dirty="0"/>
          </a:p>
        </p:txBody>
      </p:sp>
      <p:sp>
        <p:nvSpPr>
          <p:cNvPr id="6" name="Shape 3"/>
          <p:cNvSpPr/>
          <p:nvPr/>
        </p:nvSpPr>
        <p:spPr>
          <a:xfrm>
            <a:off x="0" y="4873752"/>
            <a:ext cx="9144000" cy="269748"/>
          </a:xfrm>
          <a:prstGeom prst="rect">
            <a:avLst/>
          </a:prstGeom>
          <a:solidFill>
            <a:srgbClr val="0F2144"/>
          </a:solidFill>
          <a:ln/>
        </p:spPr>
      </p:sp>
      <p:sp>
        <p:nvSpPr>
          <p:cNvPr id="7" name="Text 4"/>
          <p:cNvSpPr/>
          <p:nvPr/>
        </p:nvSpPr>
        <p:spPr>
          <a:xfrm>
            <a:off x="0" y="4873752"/>
            <a:ext cx="9144000" cy="2697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FreightMind  ·  Team HackHers  ·  LogisticsNow LoRRI AI Hackathon Round 2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256032" y="1024128"/>
            <a:ext cx="2788920" cy="1700784"/>
          </a:xfrm>
          <a:prstGeom prst="rect">
            <a:avLst/>
          </a:prstGeom>
          <a:solidFill>
            <a:srgbClr val="FFFFFF"/>
          </a:solidFill>
          <a:ln w="889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256032" y="1024128"/>
            <a:ext cx="2788920" cy="45720"/>
          </a:xfrm>
          <a:prstGeom prst="rect">
            <a:avLst/>
          </a:prstGeom>
          <a:solidFill>
            <a:srgbClr val="1D4ED8"/>
          </a:solidFill>
          <a:ln/>
        </p:spPr>
      </p:sp>
      <p:sp>
        <p:nvSpPr>
          <p:cNvPr id="10" name="Shape 7"/>
          <p:cNvSpPr/>
          <p:nvPr/>
        </p:nvSpPr>
        <p:spPr>
          <a:xfrm>
            <a:off x="384048" y="1152144"/>
            <a:ext cx="438912" cy="438912"/>
          </a:xfrm>
          <a:prstGeom prst="ellipse">
            <a:avLst/>
          </a:prstGeom>
          <a:solidFill>
            <a:srgbClr val="1D4ED8">
              <a:alpha val="14000"/>
            </a:srgbClr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0624" y="1188720"/>
            <a:ext cx="365760" cy="36576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923544" y="1133856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214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AI Carrier Scoring</a:t>
            </a:r>
            <a:endParaRPr lang="en-US" sz="1100" dirty="0"/>
          </a:p>
        </p:txBody>
      </p:sp>
      <p:sp>
        <p:nvSpPr>
          <p:cNvPr id="13" name="Text 9"/>
          <p:cNvSpPr/>
          <p:nvPr/>
        </p:nvSpPr>
        <p:spPr>
          <a:xfrm>
            <a:off x="365760" y="1600200"/>
            <a:ext cx="2578608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XGBoost model scores all 15 carriers in real-time using 12 performance features including on-time rate, damage rate, fleet size, lane fit, and price ratio.</a:t>
            </a:r>
            <a:endParaRPr lang="en-US" sz="950" dirty="0"/>
          </a:p>
        </p:txBody>
      </p:sp>
      <p:sp>
        <p:nvSpPr>
          <p:cNvPr id="14" name="Shape 10"/>
          <p:cNvSpPr/>
          <p:nvPr/>
        </p:nvSpPr>
        <p:spPr>
          <a:xfrm>
            <a:off x="3163824" y="1024128"/>
            <a:ext cx="2788920" cy="1700784"/>
          </a:xfrm>
          <a:prstGeom prst="rect">
            <a:avLst/>
          </a:prstGeom>
          <a:solidFill>
            <a:srgbClr val="FFFFFF"/>
          </a:solidFill>
          <a:ln w="889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3163824" y="1024128"/>
            <a:ext cx="2788920" cy="4572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16" name="Shape 12"/>
          <p:cNvSpPr/>
          <p:nvPr/>
        </p:nvSpPr>
        <p:spPr>
          <a:xfrm>
            <a:off x="3291840" y="1152144"/>
            <a:ext cx="438912" cy="438912"/>
          </a:xfrm>
          <a:prstGeom prst="ellipse">
            <a:avLst/>
          </a:prstGeom>
          <a:solidFill>
            <a:srgbClr val="0891B2">
              <a:alpha val="14000"/>
            </a:srgbClr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28416" y="1188720"/>
            <a:ext cx="365760" cy="36576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3831336" y="1133856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214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Bid Comparison Engine</a:t>
            </a:r>
            <a:endParaRPr lang="en-US" sz="1100" dirty="0"/>
          </a:p>
        </p:txBody>
      </p:sp>
      <p:sp>
        <p:nvSpPr>
          <p:cNvPr id="19" name="Text 14"/>
          <p:cNvSpPr/>
          <p:nvPr/>
        </p:nvSpPr>
        <p:spPr>
          <a:xfrm>
            <a:off x="3273552" y="1600200"/>
            <a:ext cx="2578608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Normalises bids against live market rates. Flags overpriced carriers automatically and shows exact INR savings. Ranks all bids by composite AI score.</a:t>
            </a:r>
            <a:endParaRPr lang="en-US" sz="950" dirty="0"/>
          </a:p>
        </p:txBody>
      </p:sp>
      <p:sp>
        <p:nvSpPr>
          <p:cNvPr id="20" name="Shape 15"/>
          <p:cNvSpPr/>
          <p:nvPr/>
        </p:nvSpPr>
        <p:spPr>
          <a:xfrm>
            <a:off x="6071616" y="1024128"/>
            <a:ext cx="2788920" cy="1700784"/>
          </a:xfrm>
          <a:prstGeom prst="rect">
            <a:avLst/>
          </a:prstGeom>
          <a:solidFill>
            <a:srgbClr val="FFFFFF"/>
          </a:solidFill>
          <a:ln w="889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6071616" y="1024128"/>
            <a:ext cx="2788920" cy="4572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22" name="Shape 17"/>
          <p:cNvSpPr/>
          <p:nvPr/>
        </p:nvSpPr>
        <p:spPr>
          <a:xfrm>
            <a:off x="6199632" y="1152144"/>
            <a:ext cx="438912" cy="438912"/>
          </a:xfrm>
          <a:prstGeom prst="ellipse">
            <a:avLst/>
          </a:prstGeom>
          <a:solidFill>
            <a:srgbClr val="7C3AED">
              <a:alpha val="14000"/>
            </a:srgbClr>
          </a:solidFill>
          <a:ln/>
        </p:spPr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36208" y="1188720"/>
            <a:ext cx="365760" cy="365760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6739128" y="1133856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214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Award Split Simulator</a:t>
            </a:r>
            <a:endParaRPr lang="en-US" sz="1100" dirty="0"/>
          </a:p>
        </p:txBody>
      </p:sp>
      <p:sp>
        <p:nvSpPr>
          <p:cNvPr id="25" name="Text 19"/>
          <p:cNvSpPr/>
          <p:nvPr/>
        </p:nvSpPr>
        <p:spPr>
          <a:xfrm>
            <a:off x="6181344" y="1600200"/>
            <a:ext cx="2578608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Dual-carrier split slider sweeps all ratios from 10% to 90%. Live blended score, expected on-time %, and total cost per split point.</a:t>
            </a:r>
            <a:endParaRPr lang="en-US" sz="950" dirty="0"/>
          </a:p>
        </p:txBody>
      </p:sp>
      <p:sp>
        <p:nvSpPr>
          <p:cNvPr id="26" name="Shape 20"/>
          <p:cNvSpPr/>
          <p:nvPr/>
        </p:nvSpPr>
        <p:spPr>
          <a:xfrm>
            <a:off x="256032" y="2834640"/>
            <a:ext cx="2788920" cy="1700784"/>
          </a:xfrm>
          <a:prstGeom prst="rect">
            <a:avLst/>
          </a:prstGeom>
          <a:solidFill>
            <a:srgbClr val="FFFFFF"/>
          </a:solidFill>
          <a:ln w="889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27" name="Shape 21"/>
          <p:cNvSpPr/>
          <p:nvPr/>
        </p:nvSpPr>
        <p:spPr>
          <a:xfrm>
            <a:off x="256032" y="2834640"/>
            <a:ext cx="2788920" cy="4572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28" name="Shape 22"/>
          <p:cNvSpPr/>
          <p:nvPr/>
        </p:nvSpPr>
        <p:spPr>
          <a:xfrm>
            <a:off x="384048" y="2962656"/>
            <a:ext cx="438912" cy="438912"/>
          </a:xfrm>
          <a:prstGeom prst="ellipse">
            <a:avLst/>
          </a:prstGeom>
          <a:solidFill>
            <a:srgbClr val="059669">
              <a:alpha val="14000"/>
            </a:srgbClr>
          </a:solidFill>
          <a:ln/>
        </p:spPr>
      </p:sp>
      <p:pic>
        <p:nvPicPr>
          <p:cNvPr id="2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0624" y="2999232"/>
            <a:ext cx="365760" cy="365760"/>
          </a:xfrm>
          <a:prstGeom prst="rect">
            <a:avLst/>
          </a:prstGeom>
        </p:spPr>
      </p:pic>
      <p:sp>
        <p:nvSpPr>
          <p:cNvPr id="30" name="Text 23"/>
          <p:cNvSpPr/>
          <p:nvPr/>
        </p:nvSpPr>
        <p:spPr>
          <a:xfrm>
            <a:off x="923544" y="2944368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214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Lane Intelligence Map</a:t>
            </a:r>
            <a:endParaRPr lang="en-US" sz="1100" dirty="0"/>
          </a:p>
        </p:txBody>
      </p:sp>
      <p:sp>
        <p:nvSpPr>
          <p:cNvPr id="31" name="Text 24"/>
          <p:cNvSpPr/>
          <p:nvPr/>
        </p:nvSpPr>
        <p:spPr>
          <a:xfrm>
            <a:off x="365760" y="3410712"/>
            <a:ext cx="2578608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Leaflet.js interactive India map with CartoDB tiles. All 380 freight lanes shown as risk-coloured polylines. Click any route for full analytics.</a:t>
            </a:r>
            <a:endParaRPr lang="en-US" sz="950" dirty="0"/>
          </a:p>
        </p:txBody>
      </p:sp>
      <p:sp>
        <p:nvSpPr>
          <p:cNvPr id="32" name="Shape 25"/>
          <p:cNvSpPr/>
          <p:nvPr/>
        </p:nvSpPr>
        <p:spPr>
          <a:xfrm>
            <a:off x="3163824" y="2834640"/>
            <a:ext cx="2788920" cy="1700784"/>
          </a:xfrm>
          <a:prstGeom prst="rect">
            <a:avLst/>
          </a:prstGeom>
          <a:solidFill>
            <a:srgbClr val="FFFFFF"/>
          </a:solidFill>
          <a:ln w="889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33" name="Shape 26"/>
          <p:cNvSpPr/>
          <p:nvPr/>
        </p:nvSpPr>
        <p:spPr>
          <a:xfrm>
            <a:off x="3163824" y="2834640"/>
            <a:ext cx="2788920" cy="45720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34" name="Shape 27"/>
          <p:cNvSpPr/>
          <p:nvPr/>
        </p:nvSpPr>
        <p:spPr>
          <a:xfrm>
            <a:off x="3291840" y="2962656"/>
            <a:ext cx="438912" cy="438912"/>
          </a:xfrm>
          <a:prstGeom prst="ellipse">
            <a:avLst/>
          </a:prstGeom>
          <a:solidFill>
            <a:srgbClr val="B45309">
              <a:alpha val="14000"/>
            </a:srgbClr>
          </a:solidFill>
          <a:ln/>
        </p:spPr>
      </p:sp>
      <p:pic>
        <p:nvPicPr>
          <p:cNvPr id="35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328416" y="2999232"/>
            <a:ext cx="365760" cy="365760"/>
          </a:xfrm>
          <a:prstGeom prst="rect">
            <a:avLst/>
          </a:prstGeom>
        </p:spPr>
      </p:pic>
      <p:sp>
        <p:nvSpPr>
          <p:cNvPr id="36" name="Text 28"/>
          <p:cNvSpPr/>
          <p:nvPr/>
        </p:nvSpPr>
        <p:spPr>
          <a:xfrm>
            <a:off x="3831336" y="2944368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214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SHAP Explainability</a:t>
            </a:r>
            <a:endParaRPr lang="en-US" sz="1100" dirty="0"/>
          </a:p>
        </p:txBody>
      </p:sp>
      <p:sp>
        <p:nvSpPr>
          <p:cNvPr id="37" name="Text 29"/>
          <p:cNvSpPr/>
          <p:nvPr/>
        </p:nvSpPr>
        <p:spPr>
          <a:xfrm>
            <a:off x="3273552" y="3410712"/>
            <a:ext cx="2578608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Every AI recommendation includes a SHAP factor breakdown. Users see exactly which features drove the score — making every decision fully auditable.</a:t>
            </a:r>
            <a:endParaRPr lang="en-US" sz="950" dirty="0"/>
          </a:p>
        </p:txBody>
      </p:sp>
      <p:sp>
        <p:nvSpPr>
          <p:cNvPr id="38" name="Shape 30"/>
          <p:cNvSpPr/>
          <p:nvPr/>
        </p:nvSpPr>
        <p:spPr>
          <a:xfrm>
            <a:off x="6071616" y="2834640"/>
            <a:ext cx="2788920" cy="1700784"/>
          </a:xfrm>
          <a:prstGeom prst="rect">
            <a:avLst/>
          </a:prstGeom>
          <a:solidFill>
            <a:srgbClr val="FFFFFF"/>
          </a:solidFill>
          <a:ln w="889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39" name="Shape 31"/>
          <p:cNvSpPr/>
          <p:nvPr/>
        </p:nvSpPr>
        <p:spPr>
          <a:xfrm>
            <a:off x="6071616" y="2834640"/>
            <a:ext cx="2788920" cy="45720"/>
          </a:xfrm>
          <a:prstGeom prst="rect">
            <a:avLst/>
          </a:prstGeom>
          <a:solidFill>
            <a:srgbClr val="BE123C"/>
          </a:solidFill>
          <a:ln/>
        </p:spPr>
      </p:sp>
      <p:sp>
        <p:nvSpPr>
          <p:cNvPr id="40" name="Shape 32"/>
          <p:cNvSpPr/>
          <p:nvPr/>
        </p:nvSpPr>
        <p:spPr>
          <a:xfrm>
            <a:off x="6199632" y="2962656"/>
            <a:ext cx="438912" cy="438912"/>
          </a:xfrm>
          <a:prstGeom prst="ellipse">
            <a:avLst/>
          </a:prstGeom>
          <a:solidFill>
            <a:srgbClr val="BE123C">
              <a:alpha val="14000"/>
            </a:srgbClr>
          </a:solidFill>
          <a:ln/>
        </p:spPr>
      </p:sp>
      <p:pic>
        <p:nvPicPr>
          <p:cNvPr id="41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36208" y="2999232"/>
            <a:ext cx="365760" cy="365760"/>
          </a:xfrm>
          <a:prstGeom prst="rect">
            <a:avLst/>
          </a:prstGeom>
        </p:spPr>
      </p:pic>
      <p:sp>
        <p:nvSpPr>
          <p:cNvPr id="42" name="Text 33"/>
          <p:cNvSpPr/>
          <p:nvPr/>
        </p:nvSpPr>
        <p:spPr>
          <a:xfrm>
            <a:off x="6739128" y="2944368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214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Feedback Learning Loop</a:t>
            </a:r>
            <a:endParaRPr lang="en-US" sz="1100" dirty="0"/>
          </a:p>
        </p:txBody>
      </p:sp>
      <p:sp>
        <p:nvSpPr>
          <p:cNvPr id="43" name="Text 34"/>
          <p:cNvSpPr/>
          <p:nvPr/>
        </p:nvSpPr>
        <p:spPr>
          <a:xfrm>
            <a:off x="6181344" y="3410712"/>
            <a:ext cx="2578608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Shipment outcomes (On Time / Delayed / Damaged / Lost) feed back into the model. Accuracy improves continuously with every recorded shipment.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14400"/>
            <a:ext cx="9144000" cy="41148"/>
          </a:xfrm>
          <a:prstGeom prst="rect">
            <a:avLst/>
          </a:prstGeom>
          <a:solidFill>
            <a:srgbClr val="1D4ED8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210312"/>
            <a:ext cx="475488" cy="47548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68680" y="137160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Technical Approach — Stack &amp; Architecture</a:t>
            </a:r>
            <a:endParaRPr lang="en-US" sz="2700" dirty="0"/>
          </a:p>
        </p:txBody>
      </p:sp>
      <p:sp>
        <p:nvSpPr>
          <p:cNvPr id="6" name="Shape 3"/>
          <p:cNvSpPr/>
          <p:nvPr/>
        </p:nvSpPr>
        <p:spPr>
          <a:xfrm>
            <a:off x="0" y="4873752"/>
            <a:ext cx="9144000" cy="269748"/>
          </a:xfrm>
          <a:prstGeom prst="rect">
            <a:avLst/>
          </a:prstGeom>
          <a:solidFill>
            <a:srgbClr val="0F2144"/>
          </a:solidFill>
          <a:ln/>
        </p:spPr>
      </p:sp>
      <p:sp>
        <p:nvSpPr>
          <p:cNvPr id="7" name="Text 4"/>
          <p:cNvSpPr/>
          <p:nvPr/>
        </p:nvSpPr>
        <p:spPr>
          <a:xfrm>
            <a:off x="0" y="4873752"/>
            <a:ext cx="9144000" cy="2697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FreightMind  ·  Team HackHers  ·  LogisticsNow LoRRI AI Hackathon Round 2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256032" y="1024128"/>
            <a:ext cx="1572768" cy="2487168"/>
          </a:xfrm>
          <a:prstGeom prst="rect">
            <a:avLst/>
          </a:prstGeom>
          <a:solidFill>
            <a:srgbClr val="FFFFFF">
              <a:alpha val="7000"/>
            </a:srgbClr>
          </a:solidFill>
          <a:ln w="15240">
            <a:solidFill>
              <a:srgbClr val="0891B2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256032" y="1024128"/>
            <a:ext cx="1572768" cy="292608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10" name="Text 7"/>
          <p:cNvSpPr/>
          <p:nvPr/>
        </p:nvSpPr>
        <p:spPr>
          <a:xfrm>
            <a:off x="256032" y="1024128"/>
            <a:ext cx="15727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50" kern="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FRONTEND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329184" y="1389888"/>
            <a:ext cx="142646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891B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React 18 + Vite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329184" y="1883664"/>
            <a:ext cx="1426464" cy="1536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7 pages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Recharts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Leaflet.js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Axios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React Router</a:t>
            </a:r>
            <a:endParaRPr lang="en-US" sz="850" dirty="0"/>
          </a:p>
        </p:txBody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56232" y="2194560"/>
            <a:ext cx="164592" cy="164592"/>
          </a:xfrm>
          <a:prstGeom prst="rect">
            <a:avLst/>
          </a:prstGeom>
        </p:spPr>
      </p:pic>
      <p:sp>
        <p:nvSpPr>
          <p:cNvPr id="14" name="Shape 10"/>
          <p:cNvSpPr/>
          <p:nvPr/>
        </p:nvSpPr>
        <p:spPr>
          <a:xfrm>
            <a:off x="1993392" y="1024128"/>
            <a:ext cx="1572768" cy="2487168"/>
          </a:xfrm>
          <a:prstGeom prst="rect">
            <a:avLst/>
          </a:prstGeom>
          <a:solidFill>
            <a:srgbClr val="FFFFFF">
              <a:alpha val="7000"/>
            </a:srgbClr>
          </a:solidFill>
          <a:ln w="15240">
            <a:solidFill>
              <a:srgbClr val="1D4ED8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1993392" y="1024128"/>
            <a:ext cx="1572768" cy="292608"/>
          </a:xfrm>
          <a:prstGeom prst="rect">
            <a:avLst/>
          </a:prstGeom>
          <a:solidFill>
            <a:srgbClr val="1D4ED8"/>
          </a:solidFill>
          <a:ln/>
        </p:spPr>
      </p:sp>
      <p:sp>
        <p:nvSpPr>
          <p:cNvPr id="16" name="Text 12"/>
          <p:cNvSpPr/>
          <p:nvPr/>
        </p:nvSpPr>
        <p:spPr>
          <a:xfrm>
            <a:off x="1993392" y="1024128"/>
            <a:ext cx="15727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50" kern="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API</a:t>
            </a:r>
            <a:endParaRPr lang="en-US" sz="900" dirty="0"/>
          </a:p>
        </p:txBody>
      </p:sp>
      <p:sp>
        <p:nvSpPr>
          <p:cNvPr id="17" name="Text 13"/>
          <p:cNvSpPr/>
          <p:nvPr/>
        </p:nvSpPr>
        <p:spPr>
          <a:xfrm>
            <a:off x="2066544" y="1389888"/>
            <a:ext cx="142646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D4ED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FastAPI + Uvicorn</a:t>
            </a:r>
            <a:endParaRPr lang="en-US" sz="1000" dirty="0"/>
          </a:p>
        </p:txBody>
      </p:sp>
      <p:sp>
        <p:nvSpPr>
          <p:cNvPr id="18" name="Text 14"/>
          <p:cNvSpPr/>
          <p:nvPr/>
        </p:nvSpPr>
        <p:spPr>
          <a:xfrm>
            <a:off x="2066544" y="1883664"/>
            <a:ext cx="1426464" cy="1536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9 REST endpoints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Pydantic models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CORS middleware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Swagger /docs</a:t>
            </a:r>
            <a:endParaRPr lang="en-US" sz="850" dirty="0"/>
          </a:p>
        </p:txBody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93592" y="2194560"/>
            <a:ext cx="164592" cy="164592"/>
          </a:xfrm>
          <a:prstGeom prst="rect">
            <a:avLst/>
          </a:prstGeom>
        </p:spPr>
      </p:pic>
      <p:sp>
        <p:nvSpPr>
          <p:cNvPr id="20" name="Shape 15"/>
          <p:cNvSpPr/>
          <p:nvPr/>
        </p:nvSpPr>
        <p:spPr>
          <a:xfrm>
            <a:off x="3730752" y="1024128"/>
            <a:ext cx="1572768" cy="2487168"/>
          </a:xfrm>
          <a:prstGeom prst="rect">
            <a:avLst/>
          </a:prstGeom>
          <a:solidFill>
            <a:srgbClr val="FFFFFF">
              <a:alpha val="7000"/>
            </a:srgbClr>
          </a:solidFill>
          <a:ln w="15240">
            <a:solidFill>
              <a:srgbClr val="7C3AED"/>
            </a:solidFill>
            <a:prstDash val="solid"/>
          </a:ln>
        </p:spPr>
      </p:sp>
      <p:sp>
        <p:nvSpPr>
          <p:cNvPr id="21" name="Shape 16"/>
          <p:cNvSpPr/>
          <p:nvPr/>
        </p:nvSpPr>
        <p:spPr>
          <a:xfrm>
            <a:off x="3730752" y="1024128"/>
            <a:ext cx="1572768" cy="292608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22" name="Text 17"/>
          <p:cNvSpPr/>
          <p:nvPr/>
        </p:nvSpPr>
        <p:spPr>
          <a:xfrm>
            <a:off x="3730752" y="1024128"/>
            <a:ext cx="15727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50" kern="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SERVICES</a:t>
            </a:r>
            <a:endParaRPr lang="en-US" sz="900" dirty="0"/>
          </a:p>
        </p:txBody>
      </p:sp>
      <p:sp>
        <p:nvSpPr>
          <p:cNvPr id="23" name="Text 18"/>
          <p:cNvSpPr/>
          <p:nvPr/>
        </p:nvSpPr>
        <p:spPr>
          <a:xfrm>
            <a:off x="3803904" y="1389888"/>
            <a:ext cx="142646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7C3AE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scorer.py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7C3AE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explainer.py</a:t>
            </a:r>
            <a:endParaRPr lang="en-US" sz="1000" dirty="0"/>
          </a:p>
        </p:txBody>
      </p:sp>
      <p:sp>
        <p:nvSpPr>
          <p:cNvPr id="24" name="Text 19"/>
          <p:cNvSpPr/>
          <p:nvPr/>
        </p:nvSpPr>
        <p:spPr>
          <a:xfrm>
            <a:off x="3803904" y="1883664"/>
            <a:ext cx="1426464" cy="1536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Feature engineering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Negotiation engine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Award optimizer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Bid ranking</a:t>
            </a:r>
            <a:endParaRPr lang="en-US" sz="850" dirty="0"/>
          </a:p>
        </p:txBody>
      </p:sp>
      <p:pic>
        <p:nvPicPr>
          <p:cNvPr id="2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30952" y="2194560"/>
            <a:ext cx="164592" cy="164592"/>
          </a:xfrm>
          <a:prstGeom prst="rect">
            <a:avLst/>
          </a:prstGeom>
        </p:spPr>
      </p:pic>
      <p:sp>
        <p:nvSpPr>
          <p:cNvPr id="26" name="Shape 20"/>
          <p:cNvSpPr/>
          <p:nvPr/>
        </p:nvSpPr>
        <p:spPr>
          <a:xfrm>
            <a:off x="5468112" y="1024128"/>
            <a:ext cx="1572768" cy="2487168"/>
          </a:xfrm>
          <a:prstGeom prst="rect">
            <a:avLst/>
          </a:prstGeom>
          <a:solidFill>
            <a:srgbClr val="FFFFFF">
              <a:alpha val="7000"/>
            </a:srgbClr>
          </a:solidFill>
          <a:ln w="15240">
            <a:solidFill>
              <a:srgbClr val="059669"/>
            </a:solidFill>
            <a:prstDash val="solid"/>
          </a:ln>
        </p:spPr>
      </p:sp>
      <p:sp>
        <p:nvSpPr>
          <p:cNvPr id="27" name="Shape 21"/>
          <p:cNvSpPr/>
          <p:nvPr/>
        </p:nvSpPr>
        <p:spPr>
          <a:xfrm>
            <a:off x="5468112" y="1024128"/>
            <a:ext cx="1572768" cy="292608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28" name="Text 22"/>
          <p:cNvSpPr/>
          <p:nvPr/>
        </p:nvSpPr>
        <p:spPr>
          <a:xfrm>
            <a:off x="5468112" y="1024128"/>
            <a:ext cx="15727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50" kern="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ML MODEL</a:t>
            </a:r>
            <a:endParaRPr lang="en-US" sz="900" dirty="0"/>
          </a:p>
        </p:txBody>
      </p:sp>
      <p:sp>
        <p:nvSpPr>
          <p:cNvPr id="29" name="Text 23"/>
          <p:cNvSpPr/>
          <p:nvPr/>
        </p:nvSpPr>
        <p:spPr>
          <a:xfrm>
            <a:off x="5541264" y="1389888"/>
            <a:ext cx="142646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5966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XGBoost + SHAP</a:t>
            </a:r>
            <a:endParaRPr lang="en-US" sz="1000" dirty="0"/>
          </a:p>
        </p:txBody>
      </p:sp>
      <p:sp>
        <p:nvSpPr>
          <p:cNvPr id="30" name="Text 24"/>
          <p:cNvSpPr/>
          <p:nvPr/>
        </p:nvSpPr>
        <p:spPr>
          <a:xfrm>
            <a:off x="5541264" y="1883664"/>
            <a:ext cx="1426464" cy="1536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R² 0.954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MAE 0.92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12 features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SHAP explainer</a:t>
            </a:r>
            <a:endParaRPr lang="en-US" sz="850" dirty="0"/>
          </a:p>
        </p:txBody>
      </p:sp>
      <p:pic>
        <p:nvPicPr>
          <p:cNvPr id="3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68312" y="2194560"/>
            <a:ext cx="164592" cy="164592"/>
          </a:xfrm>
          <a:prstGeom prst="rect">
            <a:avLst/>
          </a:prstGeom>
        </p:spPr>
      </p:pic>
      <p:sp>
        <p:nvSpPr>
          <p:cNvPr id="32" name="Shape 25"/>
          <p:cNvSpPr/>
          <p:nvPr/>
        </p:nvSpPr>
        <p:spPr>
          <a:xfrm>
            <a:off x="7205472" y="1024128"/>
            <a:ext cx="1572768" cy="2487168"/>
          </a:xfrm>
          <a:prstGeom prst="rect">
            <a:avLst/>
          </a:prstGeom>
          <a:solidFill>
            <a:srgbClr val="FFFFFF">
              <a:alpha val="7000"/>
            </a:srgbClr>
          </a:solidFill>
          <a:ln w="15240">
            <a:solidFill>
              <a:srgbClr val="B45309"/>
            </a:solidFill>
            <a:prstDash val="solid"/>
          </a:ln>
        </p:spPr>
      </p:sp>
      <p:sp>
        <p:nvSpPr>
          <p:cNvPr id="33" name="Shape 26"/>
          <p:cNvSpPr/>
          <p:nvPr/>
        </p:nvSpPr>
        <p:spPr>
          <a:xfrm>
            <a:off x="7205472" y="1024128"/>
            <a:ext cx="1572768" cy="292608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34" name="Text 27"/>
          <p:cNvSpPr/>
          <p:nvPr/>
        </p:nvSpPr>
        <p:spPr>
          <a:xfrm>
            <a:off x="7205472" y="1024128"/>
            <a:ext cx="15727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50" kern="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DATA</a:t>
            </a:r>
            <a:endParaRPr lang="en-US" sz="900" dirty="0"/>
          </a:p>
        </p:txBody>
      </p:sp>
      <p:sp>
        <p:nvSpPr>
          <p:cNvPr id="35" name="Text 28"/>
          <p:cNvSpPr/>
          <p:nvPr/>
        </p:nvSpPr>
        <p:spPr>
          <a:xfrm>
            <a:off x="7278624" y="1389888"/>
            <a:ext cx="142646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B4530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CSV + joblib</a:t>
            </a:r>
            <a:endParaRPr lang="en-US" sz="1000" dirty="0"/>
          </a:p>
        </p:txBody>
      </p:sp>
      <p:sp>
        <p:nvSpPr>
          <p:cNvPr id="36" name="Text 29"/>
          <p:cNvSpPr/>
          <p:nvPr/>
        </p:nvSpPr>
        <p:spPr>
          <a:xfrm>
            <a:off x="7278624" y="1883664"/>
            <a:ext cx="1426464" cy="1536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5,000 shipments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15 carriers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380 lanes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model.pkl</a:t>
            </a:r>
            <a:endParaRPr lang="en-US" sz="850" dirty="0"/>
          </a:p>
        </p:txBody>
      </p:sp>
      <p:sp>
        <p:nvSpPr>
          <p:cNvPr id="37" name="Shape 30"/>
          <p:cNvSpPr/>
          <p:nvPr/>
        </p:nvSpPr>
        <p:spPr>
          <a:xfrm>
            <a:off x="256032" y="3657600"/>
            <a:ext cx="8631936" cy="27432"/>
          </a:xfrm>
          <a:prstGeom prst="rect">
            <a:avLst/>
          </a:prstGeom>
          <a:solidFill>
            <a:srgbClr val="1D4ED8">
              <a:alpha val="40000"/>
            </a:srgbClr>
          </a:solidFill>
          <a:ln/>
        </p:spPr>
      </p:sp>
      <p:sp>
        <p:nvSpPr>
          <p:cNvPr id="38" name="Shape 31"/>
          <p:cNvSpPr/>
          <p:nvPr/>
        </p:nvSpPr>
        <p:spPr>
          <a:xfrm>
            <a:off x="256032" y="3749040"/>
            <a:ext cx="1371600" cy="822960"/>
          </a:xfrm>
          <a:prstGeom prst="rect">
            <a:avLst/>
          </a:prstGeom>
          <a:solidFill>
            <a:srgbClr val="FFFFFF">
              <a:alpha val="7000"/>
            </a:srgbClr>
          </a:solidFill>
          <a:ln w="6350">
            <a:solidFill>
              <a:srgbClr val="3B82F6">
                <a:alpha val="45000"/>
              </a:srgbClr>
            </a:solidFill>
            <a:prstDash val="solid"/>
          </a:ln>
        </p:spPr>
      </p:sp>
      <p:sp>
        <p:nvSpPr>
          <p:cNvPr id="39" name="Text 32"/>
          <p:cNvSpPr/>
          <p:nvPr/>
        </p:nvSpPr>
        <p:spPr>
          <a:xfrm>
            <a:off x="256032" y="3776472"/>
            <a:ext cx="1371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93C5F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XGBoost</a:t>
            </a:r>
            <a:endParaRPr lang="en-US" sz="1700" dirty="0"/>
          </a:p>
        </p:txBody>
      </p:sp>
      <p:sp>
        <p:nvSpPr>
          <p:cNvPr id="40" name="Text 33"/>
          <p:cNvSpPr/>
          <p:nvPr/>
        </p:nvSpPr>
        <p:spPr>
          <a:xfrm>
            <a:off x="256032" y="419709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Algorithm</a:t>
            </a:r>
            <a:endParaRPr lang="en-US" sz="850" dirty="0"/>
          </a:p>
        </p:txBody>
      </p:sp>
      <p:sp>
        <p:nvSpPr>
          <p:cNvPr id="41" name="Shape 34"/>
          <p:cNvSpPr/>
          <p:nvPr/>
        </p:nvSpPr>
        <p:spPr>
          <a:xfrm>
            <a:off x="1691640" y="3749040"/>
            <a:ext cx="1371600" cy="822960"/>
          </a:xfrm>
          <a:prstGeom prst="rect">
            <a:avLst/>
          </a:prstGeom>
          <a:solidFill>
            <a:srgbClr val="FFFFFF">
              <a:alpha val="7000"/>
            </a:srgbClr>
          </a:solidFill>
          <a:ln w="6350">
            <a:solidFill>
              <a:srgbClr val="3B82F6">
                <a:alpha val="45000"/>
              </a:srgbClr>
            </a:solidFill>
            <a:prstDash val="solid"/>
          </a:ln>
        </p:spPr>
      </p:sp>
      <p:sp>
        <p:nvSpPr>
          <p:cNvPr id="42" name="Text 35"/>
          <p:cNvSpPr/>
          <p:nvPr/>
        </p:nvSpPr>
        <p:spPr>
          <a:xfrm>
            <a:off x="1691640" y="3776472"/>
            <a:ext cx="1371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93C5F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R² 0.954</a:t>
            </a:r>
            <a:endParaRPr lang="en-US" sz="1700" dirty="0"/>
          </a:p>
        </p:txBody>
      </p:sp>
      <p:sp>
        <p:nvSpPr>
          <p:cNvPr id="43" name="Text 36"/>
          <p:cNvSpPr/>
          <p:nvPr/>
        </p:nvSpPr>
        <p:spPr>
          <a:xfrm>
            <a:off x="1691640" y="419709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Accuracy</a:t>
            </a:r>
            <a:endParaRPr lang="en-US" sz="850" dirty="0"/>
          </a:p>
        </p:txBody>
      </p:sp>
      <p:sp>
        <p:nvSpPr>
          <p:cNvPr id="44" name="Shape 37"/>
          <p:cNvSpPr/>
          <p:nvPr/>
        </p:nvSpPr>
        <p:spPr>
          <a:xfrm>
            <a:off x="3127248" y="3749040"/>
            <a:ext cx="1371600" cy="822960"/>
          </a:xfrm>
          <a:prstGeom prst="rect">
            <a:avLst/>
          </a:prstGeom>
          <a:solidFill>
            <a:srgbClr val="FFFFFF">
              <a:alpha val="7000"/>
            </a:srgbClr>
          </a:solidFill>
          <a:ln w="6350">
            <a:solidFill>
              <a:srgbClr val="3B82F6">
                <a:alpha val="45000"/>
              </a:srgbClr>
            </a:solidFill>
            <a:prstDash val="solid"/>
          </a:ln>
        </p:spPr>
      </p:sp>
      <p:sp>
        <p:nvSpPr>
          <p:cNvPr id="45" name="Text 38"/>
          <p:cNvSpPr/>
          <p:nvPr/>
        </p:nvSpPr>
        <p:spPr>
          <a:xfrm>
            <a:off x="3127248" y="3776472"/>
            <a:ext cx="1371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93C5F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MAE 0.92</a:t>
            </a:r>
            <a:endParaRPr lang="en-US" sz="1700" dirty="0"/>
          </a:p>
        </p:txBody>
      </p:sp>
      <p:sp>
        <p:nvSpPr>
          <p:cNvPr id="46" name="Text 39"/>
          <p:cNvSpPr/>
          <p:nvPr/>
        </p:nvSpPr>
        <p:spPr>
          <a:xfrm>
            <a:off x="3127248" y="419709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Error Score</a:t>
            </a:r>
            <a:endParaRPr lang="en-US" sz="850" dirty="0"/>
          </a:p>
        </p:txBody>
      </p:sp>
      <p:sp>
        <p:nvSpPr>
          <p:cNvPr id="47" name="Shape 40"/>
          <p:cNvSpPr/>
          <p:nvPr/>
        </p:nvSpPr>
        <p:spPr>
          <a:xfrm>
            <a:off x="4562856" y="3749040"/>
            <a:ext cx="1371600" cy="822960"/>
          </a:xfrm>
          <a:prstGeom prst="rect">
            <a:avLst/>
          </a:prstGeom>
          <a:solidFill>
            <a:srgbClr val="FFFFFF">
              <a:alpha val="7000"/>
            </a:srgbClr>
          </a:solidFill>
          <a:ln w="6350">
            <a:solidFill>
              <a:srgbClr val="3B82F6">
                <a:alpha val="45000"/>
              </a:srgbClr>
            </a:solidFill>
            <a:prstDash val="solid"/>
          </a:ln>
        </p:spPr>
      </p:sp>
      <p:sp>
        <p:nvSpPr>
          <p:cNvPr id="48" name="Text 41"/>
          <p:cNvSpPr/>
          <p:nvPr/>
        </p:nvSpPr>
        <p:spPr>
          <a:xfrm>
            <a:off x="4562856" y="3776472"/>
            <a:ext cx="1371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93C5F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5,000</a:t>
            </a:r>
            <a:endParaRPr lang="en-US" sz="1700" dirty="0"/>
          </a:p>
        </p:txBody>
      </p:sp>
      <p:sp>
        <p:nvSpPr>
          <p:cNvPr id="49" name="Text 42"/>
          <p:cNvSpPr/>
          <p:nvPr/>
        </p:nvSpPr>
        <p:spPr>
          <a:xfrm>
            <a:off x="4562856" y="419709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Training Samples</a:t>
            </a:r>
            <a:endParaRPr lang="en-US" sz="850" dirty="0"/>
          </a:p>
        </p:txBody>
      </p:sp>
      <p:sp>
        <p:nvSpPr>
          <p:cNvPr id="50" name="Shape 43"/>
          <p:cNvSpPr/>
          <p:nvPr/>
        </p:nvSpPr>
        <p:spPr>
          <a:xfrm>
            <a:off x="5998464" y="3749040"/>
            <a:ext cx="1371600" cy="822960"/>
          </a:xfrm>
          <a:prstGeom prst="rect">
            <a:avLst/>
          </a:prstGeom>
          <a:solidFill>
            <a:srgbClr val="FFFFFF">
              <a:alpha val="7000"/>
            </a:srgbClr>
          </a:solidFill>
          <a:ln w="6350">
            <a:solidFill>
              <a:srgbClr val="3B82F6">
                <a:alpha val="45000"/>
              </a:srgbClr>
            </a:solidFill>
            <a:prstDash val="solid"/>
          </a:ln>
        </p:spPr>
      </p:sp>
      <p:sp>
        <p:nvSpPr>
          <p:cNvPr id="51" name="Text 44"/>
          <p:cNvSpPr/>
          <p:nvPr/>
        </p:nvSpPr>
        <p:spPr>
          <a:xfrm>
            <a:off x="5998464" y="3776472"/>
            <a:ext cx="1371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93C5F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12</a:t>
            </a:r>
            <a:endParaRPr lang="en-US" sz="1700" dirty="0"/>
          </a:p>
        </p:txBody>
      </p:sp>
      <p:sp>
        <p:nvSpPr>
          <p:cNvPr id="52" name="Text 45"/>
          <p:cNvSpPr/>
          <p:nvPr/>
        </p:nvSpPr>
        <p:spPr>
          <a:xfrm>
            <a:off x="5998464" y="419709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Feature Inputs</a:t>
            </a:r>
            <a:endParaRPr lang="en-US" sz="850" dirty="0"/>
          </a:p>
        </p:txBody>
      </p:sp>
      <p:sp>
        <p:nvSpPr>
          <p:cNvPr id="53" name="Shape 46"/>
          <p:cNvSpPr/>
          <p:nvPr/>
        </p:nvSpPr>
        <p:spPr>
          <a:xfrm>
            <a:off x="7434072" y="3749040"/>
            <a:ext cx="1371600" cy="822960"/>
          </a:xfrm>
          <a:prstGeom prst="rect">
            <a:avLst/>
          </a:prstGeom>
          <a:solidFill>
            <a:srgbClr val="FFFFFF">
              <a:alpha val="7000"/>
            </a:srgbClr>
          </a:solidFill>
          <a:ln w="6350">
            <a:solidFill>
              <a:srgbClr val="3B82F6">
                <a:alpha val="45000"/>
              </a:srgbClr>
            </a:solidFill>
            <a:prstDash val="solid"/>
          </a:ln>
        </p:spPr>
      </p:sp>
      <p:sp>
        <p:nvSpPr>
          <p:cNvPr id="54" name="Text 47"/>
          <p:cNvSpPr/>
          <p:nvPr/>
        </p:nvSpPr>
        <p:spPr>
          <a:xfrm>
            <a:off x="7434072" y="3776472"/>
            <a:ext cx="1371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93C5F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SHAP</a:t>
            </a:r>
            <a:endParaRPr lang="en-US" sz="1700" dirty="0"/>
          </a:p>
        </p:txBody>
      </p:sp>
      <p:sp>
        <p:nvSpPr>
          <p:cNvPr id="55" name="Text 48"/>
          <p:cNvSpPr/>
          <p:nvPr/>
        </p:nvSpPr>
        <p:spPr>
          <a:xfrm>
            <a:off x="7434072" y="419709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Explainability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5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14400"/>
            <a:ext cx="9144000" cy="41148"/>
          </a:xfrm>
          <a:prstGeom prst="rect">
            <a:avLst/>
          </a:prstGeom>
          <a:solidFill>
            <a:srgbClr val="1D4ED8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210312"/>
            <a:ext cx="475488" cy="47548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68680" y="137160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Reliability &amp; Measurable Impact</a:t>
            </a:r>
            <a:endParaRPr lang="en-US" sz="2700" dirty="0"/>
          </a:p>
        </p:txBody>
      </p:sp>
      <p:sp>
        <p:nvSpPr>
          <p:cNvPr id="6" name="Shape 3"/>
          <p:cNvSpPr/>
          <p:nvPr/>
        </p:nvSpPr>
        <p:spPr>
          <a:xfrm>
            <a:off x="0" y="4873752"/>
            <a:ext cx="9144000" cy="269748"/>
          </a:xfrm>
          <a:prstGeom prst="rect">
            <a:avLst/>
          </a:prstGeom>
          <a:solidFill>
            <a:srgbClr val="0F2144"/>
          </a:solidFill>
          <a:ln/>
        </p:spPr>
      </p:sp>
      <p:sp>
        <p:nvSpPr>
          <p:cNvPr id="7" name="Text 4"/>
          <p:cNvSpPr/>
          <p:nvPr/>
        </p:nvSpPr>
        <p:spPr>
          <a:xfrm>
            <a:off x="0" y="4873752"/>
            <a:ext cx="9144000" cy="2697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FreightMind  ·  Team HackHers  ·  LogisticsNow LoRRI AI Hackathon Round 2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256032" y="1005840"/>
            <a:ext cx="2011680" cy="1005840"/>
          </a:xfrm>
          <a:prstGeom prst="rect">
            <a:avLst/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256032" y="1005840"/>
            <a:ext cx="2011680" cy="45720"/>
          </a:xfrm>
          <a:prstGeom prst="rect">
            <a:avLst/>
          </a:prstGeom>
          <a:solidFill>
            <a:srgbClr val="1D4ED8"/>
          </a:solidFill>
          <a:ln/>
        </p:spPr>
      </p:sp>
      <p:sp>
        <p:nvSpPr>
          <p:cNvPr id="10" name="Text 7"/>
          <p:cNvSpPr/>
          <p:nvPr/>
        </p:nvSpPr>
        <p:spPr>
          <a:xfrm>
            <a:off x="256032" y="1069848"/>
            <a:ext cx="2011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D4ED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0.954</a:t>
            </a:r>
            <a:endParaRPr lang="en-US" sz="2800" dirty="0"/>
          </a:p>
        </p:txBody>
      </p:sp>
      <p:sp>
        <p:nvSpPr>
          <p:cNvPr id="11" name="Text 8"/>
          <p:cNvSpPr/>
          <p:nvPr/>
        </p:nvSpPr>
        <p:spPr>
          <a:xfrm>
            <a:off x="256032" y="1536192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214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Model R²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256032" y="1719072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XGBoost on test set</a:t>
            </a:r>
            <a:endParaRPr lang="en-US" sz="850" dirty="0"/>
          </a:p>
        </p:txBody>
      </p:sp>
      <p:sp>
        <p:nvSpPr>
          <p:cNvPr id="13" name="Shape 10"/>
          <p:cNvSpPr/>
          <p:nvPr/>
        </p:nvSpPr>
        <p:spPr>
          <a:xfrm>
            <a:off x="2432304" y="1005840"/>
            <a:ext cx="2011680" cy="1005840"/>
          </a:xfrm>
          <a:prstGeom prst="rect">
            <a:avLst/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2432304" y="1005840"/>
            <a:ext cx="2011680" cy="4572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15" name="Text 12"/>
          <p:cNvSpPr/>
          <p:nvPr/>
        </p:nvSpPr>
        <p:spPr>
          <a:xfrm>
            <a:off x="2432304" y="1069848"/>
            <a:ext cx="2011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891B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0.92</a:t>
            </a:r>
            <a:endParaRPr lang="en-US" sz="2800" dirty="0"/>
          </a:p>
        </p:txBody>
      </p:sp>
      <p:sp>
        <p:nvSpPr>
          <p:cNvPr id="16" name="Text 13"/>
          <p:cNvSpPr/>
          <p:nvPr/>
        </p:nvSpPr>
        <p:spPr>
          <a:xfrm>
            <a:off x="2432304" y="1536192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214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Mean Abs. Error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2432304" y="1719072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Score accuracy 0–100 range</a:t>
            </a:r>
            <a:endParaRPr lang="en-US" sz="850" dirty="0"/>
          </a:p>
        </p:txBody>
      </p:sp>
      <p:sp>
        <p:nvSpPr>
          <p:cNvPr id="18" name="Shape 15"/>
          <p:cNvSpPr/>
          <p:nvPr/>
        </p:nvSpPr>
        <p:spPr>
          <a:xfrm>
            <a:off x="4608576" y="1005840"/>
            <a:ext cx="2011680" cy="1005840"/>
          </a:xfrm>
          <a:prstGeom prst="rect">
            <a:avLst/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4608576" y="1005840"/>
            <a:ext cx="2011680" cy="4572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20" name="Text 17"/>
          <p:cNvSpPr/>
          <p:nvPr/>
        </p:nvSpPr>
        <p:spPr>
          <a:xfrm>
            <a:off x="4608576" y="1069848"/>
            <a:ext cx="2011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5966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15–30%</a:t>
            </a:r>
            <a:endParaRPr lang="en-US" sz="2800" dirty="0"/>
          </a:p>
        </p:txBody>
      </p:sp>
      <p:sp>
        <p:nvSpPr>
          <p:cNvPr id="21" name="Text 18"/>
          <p:cNvSpPr/>
          <p:nvPr/>
        </p:nvSpPr>
        <p:spPr>
          <a:xfrm>
            <a:off x="4608576" y="1536192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214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Bid Savings Found</a:t>
            </a:r>
            <a:endParaRPr lang="en-US" sz="1100" dirty="0"/>
          </a:p>
        </p:txBody>
      </p:sp>
      <p:sp>
        <p:nvSpPr>
          <p:cNvPr id="22" name="Text 19"/>
          <p:cNvSpPr/>
          <p:nvPr/>
        </p:nvSpPr>
        <p:spPr>
          <a:xfrm>
            <a:off x="4608576" y="1719072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Via negotiation signal engine</a:t>
            </a:r>
            <a:endParaRPr lang="en-US" sz="850" dirty="0"/>
          </a:p>
        </p:txBody>
      </p:sp>
      <p:sp>
        <p:nvSpPr>
          <p:cNvPr id="23" name="Shape 20"/>
          <p:cNvSpPr/>
          <p:nvPr/>
        </p:nvSpPr>
        <p:spPr>
          <a:xfrm>
            <a:off x="6784848" y="1005840"/>
            <a:ext cx="2011680" cy="1005840"/>
          </a:xfrm>
          <a:prstGeom prst="rect">
            <a:avLst/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24" name="Shape 21"/>
          <p:cNvSpPr/>
          <p:nvPr/>
        </p:nvSpPr>
        <p:spPr>
          <a:xfrm>
            <a:off x="6784848" y="1005840"/>
            <a:ext cx="2011680" cy="4572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25" name="Text 22"/>
          <p:cNvSpPr/>
          <p:nvPr/>
        </p:nvSpPr>
        <p:spPr>
          <a:xfrm>
            <a:off x="6784848" y="1069848"/>
            <a:ext cx="2011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7C3AE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5,000</a:t>
            </a:r>
            <a:endParaRPr lang="en-US" sz="2800" dirty="0"/>
          </a:p>
        </p:txBody>
      </p:sp>
      <p:sp>
        <p:nvSpPr>
          <p:cNvPr id="26" name="Text 23"/>
          <p:cNvSpPr/>
          <p:nvPr/>
        </p:nvSpPr>
        <p:spPr>
          <a:xfrm>
            <a:off x="6784848" y="1536192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214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Training Records</a:t>
            </a:r>
            <a:endParaRPr lang="en-US" sz="1100" dirty="0"/>
          </a:p>
        </p:txBody>
      </p:sp>
      <p:sp>
        <p:nvSpPr>
          <p:cNvPr id="27" name="Text 24"/>
          <p:cNvSpPr/>
          <p:nvPr/>
        </p:nvSpPr>
        <p:spPr>
          <a:xfrm>
            <a:off x="6784848" y="1719072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Jan 2023 – Dec 2024 dataset</a:t>
            </a:r>
            <a:endParaRPr lang="en-US" sz="850" dirty="0"/>
          </a:p>
        </p:txBody>
      </p:sp>
      <p:sp>
        <p:nvSpPr>
          <p:cNvPr id="28" name="Shape 25"/>
          <p:cNvSpPr/>
          <p:nvPr/>
        </p:nvSpPr>
        <p:spPr>
          <a:xfrm>
            <a:off x="256032" y="2176272"/>
            <a:ext cx="4160520" cy="320040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29" name="Text 26"/>
          <p:cNvSpPr/>
          <p:nvPr/>
        </p:nvSpPr>
        <p:spPr>
          <a:xfrm>
            <a:off x="256032" y="2176272"/>
            <a:ext cx="4160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50" kern="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RELIABILITY MEASURES</a:t>
            </a:r>
            <a:endParaRPr lang="en-US" sz="1000" dirty="0"/>
          </a:p>
        </p:txBody>
      </p:sp>
      <p:sp>
        <p:nvSpPr>
          <p:cNvPr id="30" name="Shape 27"/>
          <p:cNvSpPr/>
          <p:nvPr/>
        </p:nvSpPr>
        <p:spPr>
          <a:xfrm>
            <a:off x="329184" y="2670048"/>
            <a:ext cx="201168" cy="201168"/>
          </a:xfrm>
          <a:prstGeom prst="ellipse">
            <a:avLst/>
          </a:prstGeom>
          <a:solidFill>
            <a:srgbClr val="1D4ED8"/>
          </a:solidFill>
          <a:ln/>
        </p:spPr>
      </p:sp>
      <p:sp>
        <p:nvSpPr>
          <p:cNvPr id="31" name="Text 28"/>
          <p:cNvSpPr/>
          <p:nvPr/>
        </p:nvSpPr>
        <p:spPr>
          <a:xfrm>
            <a:off x="621792" y="2615184"/>
            <a:ext cx="36758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Reproducible dataset with fixed random seed for full consistency</a:t>
            </a:r>
            <a:endParaRPr lang="en-US" sz="1000" dirty="0"/>
          </a:p>
        </p:txBody>
      </p:sp>
      <p:sp>
        <p:nvSpPr>
          <p:cNvPr id="32" name="Shape 29"/>
          <p:cNvSpPr/>
          <p:nvPr/>
        </p:nvSpPr>
        <p:spPr>
          <a:xfrm>
            <a:off x="329184" y="3099816"/>
            <a:ext cx="201168" cy="201168"/>
          </a:xfrm>
          <a:prstGeom prst="ellipse">
            <a:avLst/>
          </a:prstGeom>
          <a:solidFill>
            <a:srgbClr val="1D4ED8"/>
          </a:solidFill>
          <a:ln/>
        </p:spPr>
      </p:sp>
      <p:sp>
        <p:nvSpPr>
          <p:cNvPr id="33" name="Text 30"/>
          <p:cNvSpPr/>
          <p:nvPr/>
        </p:nvSpPr>
        <p:spPr>
          <a:xfrm>
            <a:off x="621792" y="3044952"/>
            <a:ext cx="36758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Pydantic validation on all inputs — bad data never reaches the model</a:t>
            </a:r>
            <a:endParaRPr lang="en-US" sz="1000" dirty="0"/>
          </a:p>
        </p:txBody>
      </p:sp>
      <p:sp>
        <p:nvSpPr>
          <p:cNvPr id="34" name="Shape 31"/>
          <p:cNvSpPr/>
          <p:nvPr/>
        </p:nvSpPr>
        <p:spPr>
          <a:xfrm>
            <a:off x="329184" y="3529584"/>
            <a:ext cx="201168" cy="201168"/>
          </a:xfrm>
          <a:prstGeom prst="ellipse">
            <a:avLst/>
          </a:prstGeom>
          <a:solidFill>
            <a:srgbClr val="1D4ED8"/>
          </a:solidFill>
          <a:ln/>
        </p:spPr>
      </p:sp>
      <p:sp>
        <p:nvSpPr>
          <p:cNvPr id="35" name="Text 32"/>
          <p:cNvSpPr/>
          <p:nvPr/>
        </p:nvSpPr>
        <p:spPr>
          <a:xfrm>
            <a:off x="621792" y="3474720"/>
            <a:ext cx="36758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SHAP explainability gives full auditable reasoning per recommendation</a:t>
            </a:r>
            <a:endParaRPr lang="en-US" sz="1000" dirty="0"/>
          </a:p>
        </p:txBody>
      </p:sp>
      <p:sp>
        <p:nvSpPr>
          <p:cNvPr id="36" name="Shape 33"/>
          <p:cNvSpPr/>
          <p:nvPr/>
        </p:nvSpPr>
        <p:spPr>
          <a:xfrm>
            <a:off x="329184" y="3959352"/>
            <a:ext cx="201168" cy="201168"/>
          </a:xfrm>
          <a:prstGeom prst="ellipse">
            <a:avLst/>
          </a:prstGeom>
          <a:solidFill>
            <a:srgbClr val="1D4ED8"/>
          </a:solidFill>
          <a:ln/>
        </p:spPr>
      </p:sp>
      <p:sp>
        <p:nvSpPr>
          <p:cNvPr id="37" name="Text 34"/>
          <p:cNvSpPr/>
          <p:nvPr/>
        </p:nvSpPr>
        <p:spPr>
          <a:xfrm>
            <a:off x="621792" y="3904488"/>
            <a:ext cx="36758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Uvicorn ASGI hot-reload ensures rapid and safe development iteration</a:t>
            </a:r>
            <a:endParaRPr lang="en-US" sz="1000" dirty="0"/>
          </a:p>
        </p:txBody>
      </p:sp>
      <p:sp>
        <p:nvSpPr>
          <p:cNvPr id="38" name="Shape 35"/>
          <p:cNvSpPr/>
          <p:nvPr/>
        </p:nvSpPr>
        <p:spPr>
          <a:xfrm>
            <a:off x="329184" y="4389120"/>
            <a:ext cx="201168" cy="201168"/>
          </a:xfrm>
          <a:prstGeom prst="ellipse">
            <a:avLst/>
          </a:prstGeom>
          <a:solidFill>
            <a:srgbClr val="1D4ED8"/>
          </a:solidFill>
          <a:ln/>
        </p:spPr>
      </p:sp>
      <p:sp>
        <p:nvSpPr>
          <p:cNvPr id="39" name="Text 36"/>
          <p:cNvSpPr/>
          <p:nvPr/>
        </p:nvSpPr>
        <p:spPr>
          <a:xfrm>
            <a:off x="621792" y="4334256"/>
            <a:ext cx="36758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Feedback loop captures real outcomes to retrain and improve accuracy</a:t>
            </a:r>
            <a:endParaRPr lang="en-US" sz="1000" dirty="0"/>
          </a:p>
        </p:txBody>
      </p:sp>
      <p:sp>
        <p:nvSpPr>
          <p:cNvPr id="40" name="Shape 37"/>
          <p:cNvSpPr/>
          <p:nvPr/>
        </p:nvSpPr>
        <p:spPr>
          <a:xfrm>
            <a:off x="4709160" y="2176272"/>
            <a:ext cx="4160520" cy="320040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41" name="Text 38"/>
          <p:cNvSpPr/>
          <p:nvPr/>
        </p:nvSpPr>
        <p:spPr>
          <a:xfrm>
            <a:off x="4709160" y="2176272"/>
            <a:ext cx="4160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50" kern="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MEASURABLE OUTCOMES</a:t>
            </a:r>
            <a:endParaRPr lang="en-US" sz="1000" dirty="0"/>
          </a:p>
        </p:txBody>
      </p:sp>
      <p:sp>
        <p:nvSpPr>
          <p:cNvPr id="42" name="Shape 39"/>
          <p:cNvSpPr/>
          <p:nvPr/>
        </p:nvSpPr>
        <p:spPr>
          <a:xfrm>
            <a:off x="4709160" y="2578608"/>
            <a:ext cx="4160520" cy="448056"/>
          </a:xfrm>
          <a:prstGeom prst="rect">
            <a:avLst/>
          </a:prstGeom>
          <a:solidFill>
            <a:srgbClr val="FFFFFF"/>
          </a:solidFill>
          <a:ln w="7620">
            <a:solidFill>
              <a:srgbClr val="E2E8F0"/>
            </a:solidFill>
            <a:prstDash val="solid"/>
          </a:ln>
        </p:spPr>
      </p:sp>
      <p:sp>
        <p:nvSpPr>
          <p:cNvPr id="43" name="Shape 40"/>
          <p:cNvSpPr/>
          <p:nvPr/>
        </p:nvSpPr>
        <p:spPr>
          <a:xfrm>
            <a:off x="4709160" y="2578608"/>
            <a:ext cx="45720" cy="448056"/>
          </a:xfrm>
          <a:prstGeom prst="rect">
            <a:avLst/>
          </a:prstGeom>
          <a:solidFill>
            <a:srgbClr val="059669"/>
          </a:solidFill>
          <a:ln/>
        </p:spPr>
      </p:sp>
      <p:pic>
        <p:nvPicPr>
          <p:cNvPr id="4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91456" y="2670048"/>
            <a:ext cx="256032" cy="256032"/>
          </a:xfrm>
          <a:prstGeom prst="rect">
            <a:avLst/>
          </a:prstGeom>
        </p:spPr>
      </p:pic>
      <p:sp>
        <p:nvSpPr>
          <p:cNvPr id="45" name="Text 41"/>
          <p:cNvSpPr/>
          <p:nvPr/>
        </p:nvSpPr>
        <p:spPr>
          <a:xfrm>
            <a:off x="5120640" y="2606040"/>
            <a:ext cx="36210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214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Cost Reduction</a:t>
            </a:r>
            <a:endParaRPr lang="en-US" sz="1000" dirty="0"/>
          </a:p>
        </p:txBody>
      </p:sp>
      <p:sp>
        <p:nvSpPr>
          <p:cNvPr id="46" name="Text 42"/>
          <p:cNvSpPr/>
          <p:nvPr/>
        </p:nvSpPr>
        <p:spPr>
          <a:xfrm>
            <a:off x="5120640" y="2816352"/>
            <a:ext cx="36210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15–30% overpriced bids flagged per award cycle, saving significant INR.</a:t>
            </a:r>
            <a:endParaRPr lang="en-US" sz="900" dirty="0"/>
          </a:p>
        </p:txBody>
      </p:sp>
      <p:sp>
        <p:nvSpPr>
          <p:cNvPr id="47" name="Shape 43"/>
          <p:cNvSpPr/>
          <p:nvPr/>
        </p:nvSpPr>
        <p:spPr>
          <a:xfrm>
            <a:off x="4709160" y="3090672"/>
            <a:ext cx="4160520" cy="448056"/>
          </a:xfrm>
          <a:prstGeom prst="rect">
            <a:avLst/>
          </a:prstGeom>
          <a:solidFill>
            <a:srgbClr val="FFFFFF"/>
          </a:solidFill>
          <a:ln w="7620">
            <a:solidFill>
              <a:srgbClr val="E2E8F0"/>
            </a:solidFill>
            <a:prstDash val="solid"/>
          </a:ln>
        </p:spPr>
      </p:sp>
      <p:sp>
        <p:nvSpPr>
          <p:cNvPr id="48" name="Shape 44"/>
          <p:cNvSpPr/>
          <p:nvPr/>
        </p:nvSpPr>
        <p:spPr>
          <a:xfrm>
            <a:off x="4709160" y="3090672"/>
            <a:ext cx="45720" cy="448056"/>
          </a:xfrm>
          <a:prstGeom prst="rect">
            <a:avLst/>
          </a:prstGeom>
          <a:solidFill>
            <a:srgbClr val="1D4ED8"/>
          </a:solidFill>
          <a:ln/>
        </p:spPr>
      </p:sp>
      <p:pic>
        <p:nvPicPr>
          <p:cNvPr id="4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91456" y="3182112"/>
            <a:ext cx="256032" cy="256032"/>
          </a:xfrm>
          <a:prstGeom prst="rect">
            <a:avLst/>
          </a:prstGeom>
        </p:spPr>
      </p:pic>
      <p:sp>
        <p:nvSpPr>
          <p:cNvPr id="50" name="Text 45"/>
          <p:cNvSpPr/>
          <p:nvPr/>
        </p:nvSpPr>
        <p:spPr>
          <a:xfrm>
            <a:off x="5120640" y="3118104"/>
            <a:ext cx="36210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214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Time Saved</a:t>
            </a:r>
            <a:endParaRPr lang="en-US" sz="1000" dirty="0"/>
          </a:p>
        </p:txBody>
      </p:sp>
      <p:sp>
        <p:nvSpPr>
          <p:cNvPr id="51" name="Text 46"/>
          <p:cNvSpPr/>
          <p:nvPr/>
        </p:nvSpPr>
        <p:spPr>
          <a:xfrm>
            <a:off x="5120640" y="3328416"/>
            <a:ext cx="36210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AI ranking replaces hours of manual comparison with a single API call.</a:t>
            </a:r>
            <a:endParaRPr lang="en-US" sz="900" dirty="0"/>
          </a:p>
        </p:txBody>
      </p:sp>
      <p:sp>
        <p:nvSpPr>
          <p:cNvPr id="52" name="Shape 47"/>
          <p:cNvSpPr/>
          <p:nvPr/>
        </p:nvSpPr>
        <p:spPr>
          <a:xfrm>
            <a:off x="4709160" y="3602736"/>
            <a:ext cx="4160520" cy="448056"/>
          </a:xfrm>
          <a:prstGeom prst="rect">
            <a:avLst/>
          </a:prstGeom>
          <a:solidFill>
            <a:srgbClr val="FFFFFF"/>
          </a:solidFill>
          <a:ln w="7620">
            <a:solidFill>
              <a:srgbClr val="E2E8F0"/>
            </a:solidFill>
            <a:prstDash val="solid"/>
          </a:ln>
        </p:spPr>
      </p:sp>
      <p:sp>
        <p:nvSpPr>
          <p:cNvPr id="53" name="Shape 48"/>
          <p:cNvSpPr/>
          <p:nvPr/>
        </p:nvSpPr>
        <p:spPr>
          <a:xfrm>
            <a:off x="4709160" y="3602736"/>
            <a:ext cx="45720" cy="448056"/>
          </a:xfrm>
          <a:prstGeom prst="rect">
            <a:avLst/>
          </a:prstGeom>
          <a:solidFill>
            <a:srgbClr val="7C3AED"/>
          </a:solidFill>
          <a:ln/>
        </p:spPr>
      </p:sp>
      <p:pic>
        <p:nvPicPr>
          <p:cNvPr id="5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91456" y="3694176"/>
            <a:ext cx="256032" cy="256032"/>
          </a:xfrm>
          <a:prstGeom prst="rect">
            <a:avLst/>
          </a:prstGeom>
        </p:spPr>
      </p:pic>
      <p:sp>
        <p:nvSpPr>
          <p:cNvPr id="55" name="Text 49"/>
          <p:cNvSpPr/>
          <p:nvPr/>
        </p:nvSpPr>
        <p:spPr>
          <a:xfrm>
            <a:off x="5120640" y="3630168"/>
            <a:ext cx="36210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214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Risk Visibility</a:t>
            </a:r>
            <a:endParaRPr lang="en-US" sz="1000" dirty="0"/>
          </a:p>
        </p:txBody>
      </p:sp>
      <p:sp>
        <p:nvSpPr>
          <p:cNvPr id="56" name="Text 50"/>
          <p:cNvSpPr/>
          <p:nvPr/>
        </p:nvSpPr>
        <p:spPr>
          <a:xfrm>
            <a:off x="5120640" y="3840480"/>
            <a:ext cx="36210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Risk badge per carrier from historical damage and on-time delivery data.</a:t>
            </a:r>
            <a:endParaRPr lang="en-US" sz="900" dirty="0"/>
          </a:p>
        </p:txBody>
      </p:sp>
      <p:sp>
        <p:nvSpPr>
          <p:cNvPr id="57" name="Shape 51"/>
          <p:cNvSpPr/>
          <p:nvPr/>
        </p:nvSpPr>
        <p:spPr>
          <a:xfrm>
            <a:off x="4709160" y="4114800"/>
            <a:ext cx="4160520" cy="448056"/>
          </a:xfrm>
          <a:prstGeom prst="rect">
            <a:avLst/>
          </a:prstGeom>
          <a:solidFill>
            <a:srgbClr val="FFFFFF"/>
          </a:solidFill>
          <a:ln w="7620">
            <a:solidFill>
              <a:srgbClr val="E2E8F0"/>
            </a:solidFill>
            <a:prstDash val="solid"/>
          </a:ln>
        </p:spPr>
      </p:sp>
      <p:sp>
        <p:nvSpPr>
          <p:cNvPr id="58" name="Shape 52"/>
          <p:cNvSpPr/>
          <p:nvPr/>
        </p:nvSpPr>
        <p:spPr>
          <a:xfrm>
            <a:off x="4709160" y="4114800"/>
            <a:ext cx="45720" cy="448056"/>
          </a:xfrm>
          <a:prstGeom prst="rect">
            <a:avLst/>
          </a:prstGeom>
          <a:solidFill>
            <a:srgbClr val="B45309"/>
          </a:solidFill>
          <a:ln/>
        </p:spPr>
      </p:sp>
      <p:pic>
        <p:nvPicPr>
          <p:cNvPr id="5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91456" y="4206240"/>
            <a:ext cx="256032" cy="256032"/>
          </a:xfrm>
          <a:prstGeom prst="rect">
            <a:avLst/>
          </a:prstGeom>
        </p:spPr>
      </p:pic>
      <p:sp>
        <p:nvSpPr>
          <p:cNvPr id="60" name="Text 53"/>
          <p:cNvSpPr/>
          <p:nvPr/>
        </p:nvSpPr>
        <p:spPr>
          <a:xfrm>
            <a:off x="5120640" y="4142232"/>
            <a:ext cx="36210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214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Continuous Learning</a:t>
            </a:r>
            <a:endParaRPr lang="en-US" sz="1000" dirty="0"/>
          </a:p>
        </p:txBody>
      </p:sp>
      <p:sp>
        <p:nvSpPr>
          <p:cNvPr id="61" name="Text 54"/>
          <p:cNvSpPr/>
          <p:nvPr/>
        </p:nvSpPr>
        <p:spPr>
          <a:xfrm>
            <a:off x="5120640" y="4352544"/>
            <a:ext cx="36210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Outcome feedback signals model retraining for improving accuracy over time.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FreightMind — AI Carrier Selection</dc:title>
  <dc:subject>PptxGenJS Presentation</dc:subject>
  <dc:creator>PptxGenJS</dc:creator>
  <cp:lastModifiedBy>PptxGenJS</cp:lastModifiedBy>
  <cp:revision>1</cp:revision>
  <dcterms:created xsi:type="dcterms:W3CDTF">2026-03-07T06:47:55Z</dcterms:created>
  <dcterms:modified xsi:type="dcterms:W3CDTF">2026-03-07T06:47:55Z</dcterms:modified>
</cp:coreProperties>
</file>